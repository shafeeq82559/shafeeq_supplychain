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Bricolage Grotesque" panose="020B0605040402000204" pitchFamily="34" charset="0"/>
      <p:regular r:id="rId15"/>
      <p:bold r:id="rId16"/>
    </p:embeddedFont>
    <p:embeddedFont>
      <p:font typeface="Instrument Sans" pitchFamily="2"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09DFA7C-1688-C5A0-ACB9-ABF8E561E57A}">
          <p14:sldIdLst>
            <p14:sldId id="256"/>
          </p14:sldIdLst>
        </p14:section>
        <p14:section name="Problem and solution" id="{A7C3EE03-43B4-0DAB-B9B6-E1EA5F1D0BBE}">
          <p14:sldIdLst>
            <p14:sldId id="257"/>
            <p14:sldId id="258"/>
          </p14:sldIdLst>
        </p14:section>
        <p14:section name="Data and architecture" id="{AAC29CFC-40E8-0925-8EF3-58831EE59A4F}">
          <p14:sldIdLst>
            <p14:sldId id="259"/>
            <p14:sldId id="260"/>
            <p14:sldId id="261"/>
          </p14:sldIdLst>
        </p14:section>
        <p14:section name="How it works" id="{A2D560D4-F40D-CEAF-7D7B-F743E29B70F9}">
          <p14:sldIdLst>
            <p14:sldId id="262"/>
            <p14:sldId id="263"/>
            <p14:sldId id="264"/>
          </p14:sldIdLst>
        </p14:section>
        <p14:section name="Results" id="{0BB05E2A-5E85-DFCD-036D-0F1C2D1E1C5C}">
          <p14:sldIdLst>
            <p14:sldId id="265"/>
          </p14:sldIdLst>
        </p14:section>
        <p14:section name="Wrap-up" id="{6F008992-1E97-5892-4637-392C5CFA3AC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F2E"/>
                </a:solidFill>
                <a:latin typeface="+mn-lt"/>
              </a:defRPr>
            </a:pPr>
            <a:r>
              <a:rPr sz="1400" b="0" i="0" u="none" strike="noStrike">
                <a:solidFill>
                  <a:srgbClr val="0F1F2E"/>
                </a:solidFill>
                <a:latin typeface="+mn-lt"/>
              </a:rPr>
              <a:t>Disruptions by type</a:t>
            </a:r>
          </a:p>
        </c:rich>
      </c:tx>
      <c:overlay val="0"/>
    </c:title>
    <c:autoTitleDeleted val="0"/>
    <c:plotArea>
      <c:layout/>
      <c:barChart>
        <c:barDir val="bar"/>
        <c:grouping val="clustered"/>
        <c:varyColors val="0"/>
        <c:ser>
          <c:idx val="0"/>
          <c:order val="0"/>
          <c:tx>
            <c:strRef>
              <c:f>Sheet1!$B$1</c:f>
              <c:strCache>
                <c:ptCount val="1"/>
                <c:pt idx="0">
                  <c:v>Disruptions</c:v>
                </c:pt>
              </c:strCache>
            </c:strRef>
          </c:tx>
          <c:spPr>
            <a:solidFill>
              <a:srgbClr val="1D7A9E"/>
            </a:solidFill>
            <a:effectLst/>
          </c:spPr>
          <c:invertIfNegative val="0"/>
          <c:dLbls>
            <c:numFmt formatCode="#,##0" sourceLinked="0"/>
            <c:spPr>
              <a:noFill/>
              <a:ln>
                <a:noFill/>
              </a:ln>
              <a:effectLst/>
            </c:spPr>
            <c:txPr>
              <a:bodyPr/>
              <a:lstStyle/>
              <a:p>
                <a:pPr>
                  <a:defRPr sz="1100" b="0" i="0" u="none" strike="noStrike">
                    <a:solidFill>
                      <a:srgbClr val="0F1F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Port Congestion</c:v>
                </c:pt>
                <c:pt idx="1">
                  <c:v>Geopolitical</c:v>
                </c:pt>
                <c:pt idx="2">
                  <c:v>Labor Strike</c:v>
                </c:pt>
                <c:pt idx="3">
                  <c:v>Natural Disaster</c:v>
                </c:pt>
                <c:pt idx="4">
                  <c:v>Cyber Attack</c:v>
                </c:pt>
                <c:pt idx="5">
                  <c:v>Factory Incident</c:v>
                </c:pt>
              </c:strCache>
            </c:strRef>
          </c:cat>
          <c:val>
            <c:numRef>
              <c:f>Sheet1!$B$2:$B$7</c:f>
              <c:numCache>
                <c:formatCode>General</c:formatCode>
                <c:ptCount val="6"/>
                <c:pt idx="0">
                  <c:v>25118</c:v>
                </c:pt>
                <c:pt idx="1">
                  <c:v>18084</c:v>
                </c:pt>
                <c:pt idx="2">
                  <c:v>15017</c:v>
                </c:pt>
                <c:pt idx="3">
                  <c:v>15016</c:v>
                </c:pt>
                <c:pt idx="4">
                  <c:v>14887</c:v>
                </c:pt>
                <c:pt idx="5">
                  <c:v>11878</c:v>
                </c:pt>
              </c:numCache>
            </c:numRef>
          </c:val>
          <c:extLst>
            <c:ext xmlns:c16="http://schemas.microsoft.com/office/drawing/2014/chart" uri="{C3380CC4-5D6E-409C-BE32-E72D297353CC}">
              <c16:uniqueId val="{00000000-2D84-4ACF-BDE1-7FCAB79B45B7}"/>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F2E"/>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470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assistant: an operations manager describes a disruption in plain English and gets an evidence-backed briefing: how bad it is, what worked before, what to do and how long recovery takes.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PRD's three professional questions drive the whole design. Business need: speed, consistency, objective prioritization and resilience planning.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capabilities map to the PRD: RAG similarity search, hybrid search, classification agent, recommendations, prediction models, LLM-as-Judge and the feedback loop.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Kaggle Supply Chain Disruption and Recovery dataset: 100,000 rows, 15 fields, no missing values. It is fully structured, so preprocessing writes one narrative per record, with synonyms such as typhoon or ransomware, so free-text questions match.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flow: UI, FastAPI gateway with guardrails, six LangGraph agents, report. Below: the retriever and ML models the agents use, the feedback loop, and the offline lane that builds the indexes and models 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search: BM25 keyword scores and MiniLM vector similarity are fused with weighted Reciprocal Rank Fusion (alpha 0.6). Metadata filters apply before ranking. If too few cases match, the agent relaxes filters step by 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LangGraph nodes after the guardrail. The LLM is used by Classification, Response Planning and the Judge; everything numeric comes from data and models. Without an LLM every step falls back to rules or templates.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LightGBM: strong on tabular data, handles categories natively, and quantile objectives give the P10 to P90 ranges. Each of the 4 outcomes has 3 models; the 2 classifiers give the high-impact and supplier-change probabilities. TreeSHAP explains every prediction factor by factor. The LLM never produces these numbers.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3.13 backend, everything runs locally. Without an API key the system still runs end to end on rules and templates.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LLM-based scores come from Claude Sonnet 5.5, which generated and judged the answers. Label-based metrics (retrieval, classification, models) need no LLM and act as a cross-check. The judge score 3.92 is the mean over the 10 demo scenarios after the plan-writer improvements (all 10 pass); the evaluation report's earlier run, before those improvements, scored 3.48 with a 60% pass rate.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learning: keep the LLM for language, and let data, models and transparent scoring make the decisions.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take questions. Repository docs: README, design document, API documentation, evaluation report and dataset details.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72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rtlCol="0"/>
          <a:lstStyle>
            <a:lvl1pPr marL="0" indent="0" algn="l">
              <a:buNone/>
              <a:defRPr lang="en-US" sz="4400" b="1" dirty="0">
                <a:solidFill>
                  <a:schemeClr val="bg1"/>
                </a:solidFill>
                <a:latin typeface="Bricolage Grotesque" pitchFamily="34" charset="0"/>
                <a:ea typeface="Bricolage Grotesque" pitchFamily="34" charset="-122"/>
                <a:cs typeface="Bricolage Grotesque"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703320"/>
            <a:ext cx="9326880" cy="1005840"/>
          </a:xfrm>
          <a:prstGeom prst="rect">
            <a:avLst/>
          </a:prstGeom>
          <a:noFill/>
          <a:ln/>
        </p:spPr>
        <p:txBody>
          <a:bodyPr wrap="square" rtlCol="0"/>
          <a:lstStyle>
            <a:lvl1pPr marL="0" indent="0">
              <a:buNone/>
              <a:defRPr lang="en-US" sz="1800" dirty="0">
                <a:solidFill>
                  <a:srgbClr val="C3CED5"/>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200" b="1" dirty="0">
                <a:solidFill>
                  <a:schemeClr val="tx1"/>
                </a:solidFill>
                <a:latin typeface="Bricolage Grotesque" pitchFamily="34" charset="0"/>
                <a:ea typeface="Bricolage Grotesque" pitchFamily="34" charset="-122"/>
                <a:cs typeface="Bricolage Grotesque" pitchFamily="34" charset="-120"/>
              </a:defRPr>
            </a:lvl1pPr>
          </a:lstStyle>
          <a:p>
            <a:pPr marL="0" indent="0" algn="l">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Supply Chain Disruption Assistant</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7.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25880"/>
            <a:ext cx="7315200" cy="365760"/>
          </a:xfrm>
          <a:prstGeom prst="rect">
            <a:avLst/>
          </a:prstGeom>
          <a:noFill/>
          <a:ln/>
        </p:spPr>
        <p:txBody>
          <a:bodyPr wrap="square" lIns="0" tIns="0" rIns="0" bIns="0" rtlCol="0" anchor="ctr"/>
          <a:lstStyle/>
          <a:p>
            <a:pPr marL="0" indent="0">
              <a:buNone/>
            </a:pPr>
            <a:r>
              <a:rPr lang="en-US" sz="1300" b="1" kern="0" spc="200" dirty="0">
                <a:solidFill>
                  <a:srgbClr val="F2A900"/>
                </a:solidFill>
                <a:latin typeface="Instrument Sans" pitchFamily="34" charset="0"/>
                <a:ea typeface="Instrument Sans" pitchFamily="34" charset="-122"/>
                <a:cs typeface="Instrument Sans" pitchFamily="34" charset="-120"/>
              </a:rPr>
              <a:t>CAPSTONE PROJECT  ·  LIVE DEMO</a:t>
            </a:r>
            <a:endParaRPr lang="en-US" sz="1300" dirty="0"/>
          </a:p>
        </p:txBody>
      </p:sp>
      <p:sp>
        <p:nvSpPr>
          <p:cNvPr id="3" name="Text 0"/>
          <p:cNvSpPr>
            <a:spLocks noGrp="1"/>
          </p:cNvSpPr>
          <p:nvPr>
            <p:ph type="title" idx="100" hasCustomPrompt="1"/>
          </p:nvPr>
        </p:nvSpPr>
        <p:spPr>
          <a:xfrm>
            <a:off x="731520" y="1828800"/>
            <a:ext cx="10698480" cy="1737360"/>
          </a:xfrm>
          <a:prstGeom prst="rect">
            <a:avLst/>
          </a:prstGeom>
          <a:noFill/>
          <a:ln/>
        </p:spPr>
        <p:txBody>
          <a:bodyPr wrap="square" lIns="0" tIns="0" rIns="0" bIns="0" rtlCol="0" anchor="b"/>
          <a:lstStyle/>
          <a:p>
            <a:pPr marL="0" indent="0" algn="l">
              <a:buNone/>
            </a:pPr>
            <a:r>
              <a:rPr lang="en-US" sz="4400" b="1" dirty="0">
                <a:solidFill>
                  <a:schemeClr val="bg1"/>
                </a:solidFill>
                <a:latin typeface="Bricolage Grotesque" pitchFamily="34" charset="0"/>
                <a:ea typeface="Bricolage Grotesque" pitchFamily="34" charset="-122"/>
                <a:cs typeface="Bricolage Grotesque" pitchFamily="34" charset="-120"/>
              </a:rPr>
              <a:t>AI-Powered Supply Chain</a:t>
            </a:r>
            <a:endParaRPr lang="en-US" sz="4400" dirty="0"/>
          </a:p>
          <a:p>
            <a:pPr marL="0" indent="0" algn="l">
              <a:buNone/>
            </a:pPr>
            <a:r>
              <a:rPr lang="en-US" sz="4400" b="1" dirty="0">
                <a:solidFill>
                  <a:schemeClr val="bg1"/>
                </a:solidFill>
                <a:latin typeface="Bricolage Grotesque" pitchFamily="34" charset="0"/>
                <a:ea typeface="Bricolage Grotesque" pitchFamily="34" charset="-122"/>
                <a:cs typeface="Bricolage Grotesque" pitchFamily="34" charset="-120"/>
              </a:rPr>
              <a:t>Disruption Assistant</a:t>
            </a:r>
            <a:endParaRPr lang="en-US" sz="4400" dirty="0"/>
          </a:p>
        </p:txBody>
      </p:sp>
      <p:sp>
        <p:nvSpPr>
          <p:cNvPr id="4" name="Text 0"/>
          <p:cNvSpPr>
            <a:spLocks noGrp="1"/>
          </p:cNvSpPr>
          <p:nvPr>
            <p:ph type="body" idx="101" hasCustomPrompt="1"/>
          </p:nvPr>
        </p:nvSpPr>
        <p:spPr>
          <a:xfrm>
            <a:off x="731520" y="3703320"/>
            <a:ext cx="9326880" cy="1005840"/>
          </a:xfrm>
          <a:prstGeom prst="rect">
            <a:avLst/>
          </a:prstGeom>
          <a:noFill/>
          <a:ln/>
        </p:spPr>
        <p:txBody>
          <a:bodyPr wrap="square" lIns="0" tIns="0" rIns="0" bIns="0" rtlCol="0" anchor="t"/>
          <a:lstStyle/>
          <a:p>
            <a:pPr marL="0" indent="0">
              <a:buNone/>
            </a:pPr>
            <a:r>
              <a:rPr lang="en-US" sz="1800" dirty="0">
                <a:solidFill>
                  <a:srgbClr val="C3CED5"/>
                </a:solidFill>
              </a:rPr>
              <a:t>Describe what broke. Six agents check it against 100,000 past disruptions, estimate the damage and recovery time, and recommend a response you can defend.</a:t>
            </a:r>
            <a:endParaRPr lang="en-US" sz="1800" dirty="0"/>
          </a:p>
        </p:txBody>
      </p:sp>
      <p:sp>
        <p:nvSpPr>
          <p:cNvPr id="5" name="chip 0"/>
          <p:cNvSpPr/>
          <p:nvPr/>
        </p:nvSpPr>
        <p:spPr>
          <a:xfrm>
            <a:off x="731520" y="5257800"/>
            <a:ext cx="3200400" cy="640080"/>
          </a:xfrm>
          <a:prstGeom prst="roundRect">
            <a:avLst>
              <a:gd name="adj" fmla="val 50000"/>
            </a:avLst>
          </a:prstGeom>
          <a:solidFill>
            <a:srgbClr val="16283A"/>
          </a:solidFill>
          <a:ln w="9525">
            <a:solidFill>
              <a:srgbClr val="2A4458"/>
            </a:solidFill>
            <a:prstDash val="solid"/>
          </a:ln>
        </p:spPr>
      </p:sp>
      <p:pic>
        <p:nvPicPr>
          <p:cNvPr id="6" name="chip icon 0" descr="preencoded.png"/>
          <p:cNvPicPr>
            <a:picLocks noChangeAspect="1"/>
          </p:cNvPicPr>
          <p:nvPr/>
        </p:nvPicPr>
        <p:blipFill>
          <a:blip r:embed="rId3"/>
          <a:stretch>
            <a:fillRect/>
          </a:stretch>
        </p:blipFill>
        <p:spPr>
          <a:xfrm>
            <a:off x="960120" y="5422392"/>
            <a:ext cx="310896" cy="310896"/>
          </a:xfrm>
          <a:prstGeom prst="rect">
            <a:avLst/>
          </a:prstGeom>
        </p:spPr>
      </p:pic>
      <p:sp>
        <p:nvSpPr>
          <p:cNvPr id="7" name="Text 4"/>
          <p:cNvSpPr txBox="1"/>
          <p:nvPr/>
        </p:nvSpPr>
        <p:spPr>
          <a:xfrm>
            <a:off x="1417320" y="5257800"/>
            <a:ext cx="2423160" cy="640080"/>
          </a:xfrm>
          <a:prstGeom prst="rect">
            <a:avLst/>
          </a:prstGeom>
          <a:noFill/>
          <a:ln/>
        </p:spPr>
        <p:txBody>
          <a:bodyPr wrap="square" lIns="0" tIns="0" rIns="0" bIns="0" rtlCol="0" anchor="ctr"/>
          <a:lstStyle/>
          <a:p>
            <a:pPr marL="0" indent="0">
              <a:buNone/>
            </a:pPr>
            <a:r>
              <a:rPr lang="en-US" sz="1400" dirty="0">
                <a:solidFill>
                  <a:srgbClr val="E8EFF4"/>
                </a:solidFill>
                <a:latin typeface="Instrument Sans" pitchFamily="34" charset="0"/>
                <a:ea typeface="Instrument Sans" pitchFamily="34" charset="-122"/>
                <a:cs typeface="Instrument Sans" pitchFamily="34" charset="-120"/>
              </a:rPr>
              <a:t>100,000 past disruptions</a:t>
            </a:r>
            <a:endParaRPr lang="en-US" sz="1400" dirty="0"/>
          </a:p>
        </p:txBody>
      </p:sp>
      <p:sp>
        <p:nvSpPr>
          <p:cNvPr id="8" name="chip 1"/>
          <p:cNvSpPr/>
          <p:nvPr/>
        </p:nvSpPr>
        <p:spPr>
          <a:xfrm>
            <a:off x="4160520" y="5257800"/>
            <a:ext cx="3200400" cy="640080"/>
          </a:xfrm>
          <a:prstGeom prst="roundRect">
            <a:avLst>
              <a:gd name="adj" fmla="val 50000"/>
            </a:avLst>
          </a:prstGeom>
          <a:solidFill>
            <a:srgbClr val="16283A"/>
          </a:solidFill>
          <a:ln w="9525">
            <a:solidFill>
              <a:srgbClr val="2A4458"/>
            </a:solidFill>
            <a:prstDash val="solid"/>
          </a:ln>
        </p:spPr>
      </p:sp>
      <p:pic>
        <p:nvPicPr>
          <p:cNvPr id="9" name="chip icon 1" descr="preencoded.png"/>
          <p:cNvPicPr>
            <a:picLocks noChangeAspect="1"/>
          </p:cNvPicPr>
          <p:nvPr/>
        </p:nvPicPr>
        <p:blipFill>
          <a:blip r:embed="rId4"/>
          <a:stretch>
            <a:fillRect/>
          </a:stretch>
        </p:blipFill>
        <p:spPr>
          <a:xfrm>
            <a:off x="4389120" y="5422392"/>
            <a:ext cx="310896" cy="310896"/>
          </a:xfrm>
          <a:prstGeom prst="rect">
            <a:avLst/>
          </a:prstGeom>
        </p:spPr>
      </p:pic>
      <p:sp>
        <p:nvSpPr>
          <p:cNvPr id="10" name="Text 6"/>
          <p:cNvSpPr txBox="1"/>
          <p:nvPr/>
        </p:nvSpPr>
        <p:spPr>
          <a:xfrm>
            <a:off x="4846320" y="5257800"/>
            <a:ext cx="2423160" cy="640080"/>
          </a:xfrm>
          <a:prstGeom prst="rect">
            <a:avLst/>
          </a:prstGeom>
          <a:noFill/>
          <a:ln/>
        </p:spPr>
        <p:txBody>
          <a:bodyPr wrap="square" lIns="0" tIns="0" rIns="0" bIns="0" rtlCol="0" anchor="ctr"/>
          <a:lstStyle/>
          <a:p>
            <a:pPr marL="0" indent="0">
              <a:buNone/>
            </a:pPr>
            <a:r>
              <a:rPr lang="en-US" sz="1400" dirty="0">
                <a:solidFill>
                  <a:srgbClr val="E8EFF4"/>
                </a:solidFill>
                <a:latin typeface="Instrument Sans" pitchFamily="34" charset="0"/>
                <a:ea typeface="Instrument Sans" pitchFamily="34" charset="-122"/>
                <a:cs typeface="Instrument Sans" pitchFamily="34" charset="-120"/>
              </a:rPr>
              <a:t>6 cooperating agents</a:t>
            </a:r>
            <a:endParaRPr lang="en-US" sz="1400" dirty="0"/>
          </a:p>
        </p:txBody>
      </p:sp>
      <p:sp>
        <p:nvSpPr>
          <p:cNvPr id="11" name="chip 2"/>
          <p:cNvSpPr/>
          <p:nvPr/>
        </p:nvSpPr>
        <p:spPr>
          <a:xfrm>
            <a:off x="7589520" y="5257800"/>
            <a:ext cx="3200400" cy="640080"/>
          </a:xfrm>
          <a:prstGeom prst="roundRect">
            <a:avLst>
              <a:gd name="adj" fmla="val 50000"/>
            </a:avLst>
          </a:prstGeom>
          <a:solidFill>
            <a:srgbClr val="16283A"/>
          </a:solidFill>
          <a:ln w="9525">
            <a:solidFill>
              <a:srgbClr val="2A4458"/>
            </a:solidFill>
            <a:prstDash val="solid"/>
          </a:ln>
        </p:spPr>
      </p:sp>
      <p:pic>
        <p:nvPicPr>
          <p:cNvPr id="12" name="chip icon 2" descr="preencoded.png"/>
          <p:cNvPicPr>
            <a:picLocks noChangeAspect="1"/>
          </p:cNvPicPr>
          <p:nvPr/>
        </p:nvPicPr>
        <p:blipFill>
          <a:blip r:embed="rId5"/>
          <a:stretch>
            <a:fillRect/>
          </a:stretch>
        </p:blipFill>
        <p:spPr>
          <a:xfrm>
            <a:off x="7818120" y="5422392"/>
            <a:ext cx="310896" cy="310896"/>
          </a:xfrm>
          <a:prstGeom prst="rect">
            <a:avLst/>
          </a:prstGeom>
        </p:spPr>
      </p:pic>
      <p:sp>
        <p:nvSpPr>
          <p:cNvPr id="13" name="Text 8"/>
          <p:cNvSpPr txBox="1"/>
          <p:nvPr/>
        </p:nvSpPr>
        <p:spPr>
          <a:xfrm>
            <a:off x="8275320" y="5257800"/>
            <a:ext cx="2423160" cy="640080"/>
          </a:xfrm>
          <a:prstGeom prst="rect">
            <a:avLst/>
          </a:prstGeom>
          <a:noFill/>
          <a:ln/>
        </p:spPr>
        <p:txBody>
          <a:bodyPr wrap="square" lIns="0" tIns="0" rIns="0" bIns="0" rtlCol="0" anchor="ctr"/>
          <a:lstStyle/>
          <a:p>
            <a:pPr marL="0" indent="0">
              <a:buNone/>
            </a:pPr>
            <a:r>
              <a:rPr lang="en-US" sz="1400" dirty="0">
                <a:solidFill>
                  <a:srgbClr val="E8EFF4"/>
                </a:solidFill>
                <a:latin typeface="Instrument Sans" pitchFamily="34" charset="0"/>
                <a:ea typeface="Instrument Sans" pitchFamily="34" charset="-122"/>
                <a:cs typeface="Instrument Sans" pitchFamily="34" charset="-120"/>
              </a:rPr>
              <a:t>Checked by an LLM judge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Bricolage Grotesque" pitchFamily="34" charset="0"/>
                <a:ea typeface="Bricolage Grotesque" pitchFamily="34" charset="-122"/>
                <a:cs typeface="Bricolage Grotesque" pitchFamily="34" charset="-120"/>
              </a:rPr>
              <a:t>The problem and why it matters</a:t>
            </a:r>
            <a:endParaRPr lang="en-US" sz="3200" dirty="0"/>
          </a:p>
        </p:txBody>
      </p:sp>
      <p:sp>
        <p:nvSpPr>
          <p:cNvPr id="3" name="problem card"/>
          <p:cNvSpPr/>
          <p:nvPr/>
        </p:nvSpPr>
        <p:spPr>
          <a:xfrm>
            <a:off x="548640" y="1325880"/>
            <a:ext cx="5394960" cy="4846320"/>
          </a:xfrm>
          <a:prstGeom prst="roundRect">
            <a:avLst>
              <a:gd name="adj" fmla="val 2642"/>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 name="problem circle"/>
          <p:cNvSpPr/>
          <p:nvPr/>
        </p:nvSpPr>
        <p:spPr>
          <a:xfrm>
            <a:off x="868680" y="1645920"/>
            <a:ext cx="685800" cy="685800"/>
          </a:xfrm>
          <a:prstGeom prst="ellipse">
            <a:avLst/>
          </a:prstGeom>
          <a:solidFill>
            <a:srgbClr val="FBE6E1"/>
          </a:solidFill>
          <a:ln/>
        </p:spPr>
      </p:sp>
      <p:pic>
        <p:nvPicPr>
          <p:cNvPr id="5" name="problem icon" descr="preencoded.png"/>
          <p:cNvPicPr>
            <a:picLocks noChangeAspect="1"/>
          </p:cNvPicPr>
          <p:nvPr/>
        </p:nvPicPr>
        <p:blipFill>
          <a:blip r:embed="rId3"/>
          <a:stretch>
            <a:fillRect/>
          </a:stretch>
        </p:blipFill>
        <p:spPr>
          <a:xfrm>
            <a:off x="1053846" y="1831086"/>
            <a:ext cx="315468" cy="315468"/>
          </a:xfrm>
          <a:prstGeom prst="rect">
            <a:avLst/>
          </a:prstGeom>
        </p:spPr>
      </p:pic>
      <p:sp>
        <p:nvSpPr>
          <p:cNvPr id="6" name="Text 3"/>
          <p:cNvSpPr txBox="1"/>
          <p:nvPr/>
        </p:nvSpPr>
        <p:spPr>
          <a:xfrm>
            <a:off x="1737360" y="1691640"/>
            <a:ext cx="3931920" cy="594360"/>
          </a:xfrm>
          <a:prstGeom prst="rect">
            <a:avLst/>
          </a:prstGeom>
          <a:noFill/>
          <a:ln/>
        </p:spPr>
        <p:txBody>
          <a:bodyPr wrap="square" lIns="0" tIns="0" rIns="0" bIns="0" rtlCol="0" anchor="ctr"/>
          <a:lstStyle/>
          <a:p>
            <a:pPr marL="0" indent="0">
              <a:buNone/>
            </a:pPr>
            <a:r>
              <a:rPr lang="en-US" sz="2200" b="1" dirty="0">
                <a:solidFill>
                  <a:schemeClr val="tx1"/>
                </a:solidFill>
                <a:latin typeface="Bricolage Grotesque" pitchFamily="34" charset="0"/>
                <a:ea typeface="Bricolage Grotesque" pitchFamily="34" charset="-122"/>
                <a:cs typeface="Bricolage Grotesque" pitchFamily="34" charset="-120"/>
              </a:rPr>
              <a:t>The problem</a:t>
            </a:r>
            <a:endParaRPr lang="en-US" sz="2200" dirty="0"/>
          </a:p>
        </p:txBody>
      </p:sp>
      <p:sp>
        <p:nvSpPr>
          <p:cNvPr id="7" name="Text 4"/>
          <p:cNvSpPr txBox="1"/>
          <p:nvPr/>
        </p:nvSpPr>
        <p:spPr>
          <a:xfrm>
            <a:off x="868680" y="2514600"/>
            <a:ext cx="4800600" cy="1234440"/>
          </a:xfrm>
          <a:prstGeom prst="rect">
            <a:avLst/>
          </a:prstGeom>
          <a:noFill/>
          <a:ln/>
        </p:spPr>
        <p:txBody>
          <a:bodyPr wrap="square" lIns="0" tIns="0" rIns="0" bIns="0" rtlCol="0" anchor="t"/>
          <a:lstStyle/>
          <a:p>
            <a:pPr marL="0" indent="0">
              <a:buNone/>
            </a:pPr>
            <a:r>
              <a:rPr lang="en-US" sz="1500" dirty="0">
                <a:solidFill>
                  <a:schemeClr val="tx1"/>
                </a:solidFill>
                <a:latin typeface="Instrument Sans" pitchFamily="34" charset="0"/>
                <a:ea typeface="Instrument Sans" pitchFamily="34" charset="-122"/>
                <a:cs typeface="Instrument Sans" pitchFamily="34" charset="-120"/>
              </a:rPr>
              <a:t>Supplier failures, disasters, strikes, cyber attacks and trade restrictions hit production and revenue. To decide what to do, teams search old disruption records by hand: slow and inconsistent.</a:t>
            </a:r>
            <a:endParaRPr lang="en-US" sz="1500" dirty="0"/>
          </a:p>
        </p:txBody>
      </p:sp>
      <p:sp>
        <p:nvSpPr>
          <p:cNvPr id="8" name="Text 5"/>
          <p:cNvSpPr txBox="1"/>
          <p:nvPr/>
        </p:nvSpPr>
        <p:spPr>
          <a:xfrm>
            <a:off x="868680" y="3840480"/>
            <a:ext cx="4800600" cy="365760"/>
          </a:xfrm>
          <a:prstGeom prst="rect">
            <a:avLst/>
          </a:prstGeom>
          <a:noFill/>
          <a:ln/>
        </p:spPr>
        <p:txBody>
          <a:bodyPr wrap="square" lIns="0" tIns="0" rIns="0" bIns="0" rtlCol="0" anchor="ctr"/>
          <a:lstStyle/>
          <a:p>
            <a:pPr marL="0" indent="0">
              <a:buNone/>
            </a:pPr>
            <a:r>
              <a:rPr lang="en-US" sz="1400" b="1" dirty="0">
                <a:solidFill>
                  <a:schemeClr val="accent1"/>
                </a:solidFill>
                <a:latin typeface="Instrument Sans" pitchFamily="34" charset="0"/>
                <a:ea typeface="Instrument Sans" pitchFamily="34" charset="-122"/>
                <a:cs typeface="Instrument Sans" pitchFamily="34" charset="-120"/>
              </a:rPr>
              <a:t>Questions they need answered</a:t>
            </a:r>
            <a:endParaRPr lang="en-US" sz="1400" dirty="0"/>
          </a:p>
        </p:txBody>
      </p:sp>
      <p:sp>
        <p:nvSpPr>
          <p:cNvPr id="9" name="question 1"/>
          <p:cNvSpPr/>
          <p:nvPr/>
        </p:nvSpPr>
        <p:spPr>
          <a:xfrm>
            <a:off x="868680" y="4297680"/>
            <a:ext cx="384048" cy="384048"/>
          </a:xfrm>
          <a:prstGeom prst="ellipse">
            <a:avLst/>
          </a:prstGeom>
          <a:solidFill>
            <a:schemeClr val="accent1"/>
          </a:solidFill>
          <a:ln/>
        </p:spPr>
      </p:sp>
      <p:sp>
        <p:nvSpPr>
          <p:cNvPr id="10" name="Text 7"/>
          <p:cNvSpPr txBox="1"/>
          <p:nvPr/>
        </p:nvSpPr>
        <p:spPr>
          <a:xfrm>
            <a:off x="868680" y="429768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Instrument Sans" pitchFamily="34" charset="0"/>
                <a:ea typeface="Instrument Sans" pitchFamily="34" charset="-122"/>
                <a:cs typeface="Instrument Sans" pitchFamily="34" charset="-120"/>
              </a:rPr>
              <a:t>1</a:t>
            </a:r>
            <a:endParaRPr lang="en-US" sz="1300" dirty="0"/>
          </a:p>
        </p:txBody>
      </p:sp>
      <p:sp>
        <p:nvSpPr>
          <p:cNvPr id="11" name="Text 8"/>
          <p:cNvSpPr txBox="1"/>
          <p:nvPr/>
        </p:nvSpPr>
        <p:spPr>
          <a:xfrm>
            <a:off x="1417320" y="4297680"/>
            <a:ext cx="4297680" cy="384048"/>
          </a:xfrm>
          <a:prstGeom prst="rect">
            <a:avLst/>
          </a:prstGeom>
          <a:noFill/>
          <a:ln/>
        </p:spPr>
        <p:txBody>
          <a:bodyPr wrap="square" lIns="0" tIns="0" rIns="0" bIns="0" rtlCol="0" anchor="ctr"/>
          <a:lstStyle/>
          <a:p>
            <a:pPr marL="0" indent="0">
              <a:buNone/>
            </a:pPr>
            <a:r>
              <a:rPr lang="en-US" sz="1400" dirty="0">
                <a:solidFill>
                  <a:schemeClr val="tx1"/>
                </a:solidFill>
                <a:latin typeface="Instrument Sans" pitchFamily="34" charset="0"/>
                <a:ea typeface="Instrument Sans" pitchFamily="34" charset="-122"/>
                <a:cs typeface="Instrument Sans" pitchFamily="34" charset="-120"/>
              </a:rPr>
              <a:t>Has this happened before, and how was it resolved?</a:t>
            </a:r>
            <a:endParaRPr lang="en-US" sz="1400" dirty="0"/>
          </a:p>
        </p:txBody>
      </p:sp>
      <p:sp>
        <p:nvSpPr>
          <p:cNvPr id="12" name="question 2"/>
          <p:cNvSpPr/>
          <p:nvPr/>
        </p:nvSpPr>
        <p:spPr>
          <a:xfrm>
            <a:off x="868680" y="4864608"/>
            <a:ext cx="384048" cy="384048"/>
          </a:xfrm>
          <a:prstGeom prst="ellipse">
            <a:avLst/>
          </a:prstGeom>
          <a:solidFill>
            <a:schemeClr val="accent1"/>
          </a:solidFill>
          <a:ln/>
        </p:spPr>
      </p:sp>
      <p:sp>
        <p:nvSpPr>
          <p:cNvPr id="13" name="Text 10"/>
          <p:cNvSpPr txBox="1"/>
          <p:nvPr/>
        </p:nvSpPr>
        <p:spPr>
          <a:xfrm>
            <a:off x="868680" y="486460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Instrument Sans" pitchFamily="34" charset="0"/>
                <a:ea typeface="Instrument Sans" pitchFamily="34" charset="-122"/>
                <a:cs typeface="Instrument Sans" pitchFamily="34" charset="-120"/>
              </a:rPr>
              <a:t>2</a:t>
            </a:r>
            <a:endParaRPr lang="en-US" sz="1300" dirty="0"/>
          </a:p>
        </p:txBody>
      </p:sp>
      <p:sp>
        <p:nvSpPr>
          <p:cNvPr id="14" name="Text 11"/>
          <p:cNvSpPr txBox="1"/>
          <p:nvPr/>
        </p:nvSpPr>
        <p:spPr>
          <a:xfrm>
            <a:off x="1417320" y="4864608"/>
            <a:ext cx="4297680" cy="384048"/>
          </a:xfrm>
          <a:prstGeom prst="rect">
            <a:avLst/>
          </a:prstGeom>
          <a:noFill/>
          <a:ln/>
        </p:spPr>
        <p:txBody>
          <a:bodyPr wrap="square" lIns="0" tIns="0" rIns="0" bIns="0" rtlCol="0" anchor="ctr"/>
          <a:lstStyle/>
          <a:p>
            <a:pPr marL="0" indent="0">
              <a:buNone/>
            </a:pPr>
            <a:r>
              <a:rPr lang="en-US" sz="1400" dirty="0">
                <a:solidFill>
                  <a:schemeClr val="tx1"/>
                </a:solidFill>
                <a:latin typeface="Instrument Sans" pitchFamily="34" charset="0"/>
                <a:ea typeface="Instrument Sans" pitchFamily="34" charset="-122"/>
                <a:cs typeface="Instrument Sans" pitchFamily="34" charset="-120"/>
              </a:rPr>
              <a:t>How bad will it be: impact, loss, recovery time?</a:t>
            </a:r>
            <a:endParaRPr lang="en-US" sz="1400" dirty="0"/>
          </a:p>
        </p:txBody>
      </p:sp>
      <p:sp>
        <p:nvSpPr>
          <p:cNvPr id="15" name="question 3"/>
          <p:cNvSpPr/>
          <p:nvPr/>
        </p:nvSpPr>
        <p:spPr>
          <a:xfrm>
            <a:off x="868680" y="5431536"/>
            <a:ext cx="384048" cy="384048"/>
          </a:xfrm>
          <a:prstGeom prst="ellipse">
            <a:avLst/>
          </a:prstGeom>
          <a:solidFill>
            <a:schemeClr val="accent1"/>
          </a:solidFill>
          <a:ln/>
        </p:spPr>
      </p:sp>
      <p:sp>
        <p:nvSpPr>
          <p:cNvPr id="16" name="Text 13"/>
          <p:cNvSpPr txBox="1"/>
          <p:nvPr/>
        </p:nvSpPr>
        <p:spPr>
          <a:xfrm>
            <a:off x="868680" y="543153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Instrument Sans" pitchFamily="34" charset="0"/>
                <a:ea typeface="Instrument Sans" pitchFamily="34" charset="-122"/>
                <a:cs typeface="Instrument Sans" pitchFamily="34" charset="-120"/>
              </a:rPr>
              <a:t>3</a:t>
            </a:r>
            <a:endParaRPr lang="en-US" sz="1300" dirty="0"/>
          </a:p>
        </p:txBody>
      </p:sp>
      <p:sp>
        <p:nvSpPr>
          <p:cNvPr id="17" name="Text 14"/>
          <p:cNvSpPr txBox="1"/>
          <p:nvPr/>
        </p:nvSpPr>
        <p:spPr>
          <a:xfrm>
            <a:off x="1417320" y="5431536"/>
            <a:ext cx="4297680" cy="384048"/>
          </a:xfrm>
          <a:prstGeom prst="rect">
            <a:avLst/>
          </a:prstGeom>
          <a:noFill/>
          <a:ln/>
        </p:spPr>
        <p:txBody>
          <a:bodyPr wrap="square" lIns="0" tIns="0" rIns="0" bIns="0" rtlCol="0" anchor="ctr"/>
          <a:lstStyle/>
          <a:p>
            <a:pPr marL="0" indent="0">
              <a:buNone/>
            </a:pPr>
            <a:r>
              <a:rPr lang="en-US" sz="1400" dirty="0">
                <a:solidFill>
                  <a:schemeClr val="tx1"/>
                </a:solidFill>
                <a:latin typeface="Instrument Sans" pitchFamily="34" charset="0"/>
                <a:ea typeface="Instrument Sans" pitchFamily="34" charset="-122"/>
                <a:cs typeface="Instrument Sans" pitchFamily="34" charset="-120"/>
              </a:rPr>
              <a:t>Which response works best, and how fast do we recover?</a:t>
            </a:r>
            <a:endParaRPr lang="en-US" sz="1400" dirty="0"/>
          </a:p>
        </p:txBody>
      </p:sp>
      <p:sp>
        <p:nvSpPr>
          <p:cNvPr id="18" name="Text 15"/>
          <p:cNvSpPr txBox="1"/>
          <p:nvPr/>
        </p:nvSpPr>
        <p:spPr>
          <a:xfrm>
            <a:off x="6355080" y="1371600"/>
            <a:ext cx="5212080" cy="457200"/>
          </a:xfrm>
          <a:prstGeom prst="rect">
            <a:avLst/>
          </a:prstGeom>
          <a:noFill/>
          <a:ln/>
        </p:spPr>
        <p:txBody>
          <a:bodyPr wrap="square" lIns="0" tIns="0" rIns="0" bIns="0" rtlCol="0" anchor="ctr"/>
          <a:lstStyle/>
          <a:p>
            <a:pPr marL="0" indent="0">
              <a:buNone/>
            </a:pPr>
            <a:r>
              <a:rPr lang="en-US" sz="2000" b="1" dirty="0">
                <a:solidFill>
                  <a:schemeClr val="tx1"/>
                </a:solidFill>
                <a:latin typeface="Bricolage Grotesque" pitchFamily="34" charset="0"/>
                <a:ea typeface="Bricolage Grotesque" pitchFamily="34" charset="-122"/>
                <a:cs typeface="Bricolage Grotesque" pitchFamily="34" charset="-120"/>
              </a:rPr>
              <a:t>Business need</a:t>
            </a:r>
            <a:endParaRPr lang="en-US" sz="2000" dirty="0"/>
          </a:p>
        </p:txBody>
      </p:sp>
      <p:sp>
        <p:nvSpPr>
          <p:cNvPr id="19" name="need 0"/>
          <p:cNvSpPr/>
          <p:nvPr/>
        </p:nvSpPr>
        <p:spPr>
          <a:xfrm>
            <a:off x="6355080" y="1965960"/>
            <a:ext cx="5257800" cy="914400"/>
          </a:xfrm>
          <a:prstGeom prst="roundRect">
            <a:avLst>
              <a:gd name="adj" fmla="val 14000"/>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0" name="need 0 circle"/>
          <p:cNvSpPr/>
          <p:nvPr/>
        </p:nvSpPr>
        <p:spPr>
          <a:xfrm>
            <a:off x="6537960" y="2121408"/>
            <a:ext cx="603504" cy="603504"/>
          </a:xfrm>
          <a:prstGeom prst="ellipse">
            <a:avLst/>
          </a:prstGeom>
          <a:solidFill>
            <a:srgbClr val="E4EFF4"/>
          </a:solidFill>
          <a:ln/>
        </p:spPr>
      </p:sp>
      <p:pic>
        <p:nvPicPr>
          <p:cNvPr id="21" name="need 0 icon" descr="preencoded.png"/>
          <p:cNvPicPr>
            <a:picLocks noChangeAspect="1"/>
          </p:cNvPicPr>
          <p:nvPr/>
        </p:nvPicPr>
        <p:blipFill>
          <a:blip r:embed="rId4"/>
          <a:stretch>
            <a:fillRect/>
          </a:stretch>
        </p:blipFill>
        <p:spPr>
          <a:xfrm>
            <a:off x="6700906" y="2284354"/>
            <a:ext cx="277612" cy="277612"/>
          </a:xfrm>
          <a:prstGeom prst="rect">
            <a:avLst/>
          </a:prstGeom>
        </p:spPr>
      </p:pic>
      <p:sp>
        <p:nvSpPr>
          <p:cNvPr id="22" name="Text 18"/>
          <p:cNvSpPr txBox="1"/>
          <p:nvPr/>
        </p:nvSpPr>
        <p:spPr>
          <a:xfrm>
            <a:off x="7315200" y="2084832"/>
            <a:ext cx="4160520" cy="347472"/>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Decide in seconds, not hours</a:t>
            </a:r>
            <a:endParaRPr lang="en-US" sz="1500" dirty="0"/>
          </a:p>
        </p:txBody>
      </p:sp>
      <p:sp>
        <p:nvSpPr>
          <p:cNvPr id="23" name="Text 19"/>
          <p:cNvSpPr txBox="1"/>
          <p:nvPr/>
        </p:nvSpPr>
        <p:spPr>
          <a:xfrm>
            <a:off x="7315200" y="2423160"/>
            <a:ext cx="4160520" cy="347472"/>
          </a:xfrm>
          <a:prstGeom prst="rect">
            <a:avLst/>
          </a:prstGeom>
          <a:noFill/>
          <a:ln/>
        </p:spPr>
        <p:txBody>
          <a:bodyPr wrap="square" lIns="0" tIns="0" rIns="0" bIns="0" rtlCol="0" anchor="ctr"/>
          <a:lstStyle/>
          <a:p>
            <a:pPr marL="0" indent="0">
              <a:buNone/>
            </a:pPr>
            <a:r>
              <a:rPr lang="en-US" sz="1300" dirty="0">
                <a:solidFill>
                  <a:schemeClr val="accent6"/>
                </a:solidFill>
                <a:latin typeface="Instrument Sans" pitchFamily="34" charset="0"/>
                <a:ea typeface="Instrument Sans" pitchFamily="34" charset="-122"/>
                <a:cs typeface="Instrument Sans" pitchFamily="34" charset="-120"/>
              </a:rPr>
              <a:t>Evidence-backed briefing, no manual digging</a:t>
            </a:r>
            <a:endParaRPr lang="en-US" sz="1300" dirty="0"/>
          </a:p>
        </p:txBody>
      </p:sp>
      <p:sp>
        <p:nvSpPr>
          <p:cNvPr id="24" name="need 1"/>
          <p:cNvSpPr/>
          <p:nvPr/>
        </p:nvSpPr>
        <p:spPr>
          <a:xfrm>
            <a:off x="6355080" y="3017520"/>
            <a:ext cx="5257800" cy="914400"/>
          </a:xfrm>
          <a:prstGeom prst="roundRect">
            <a:avLst>
              <a:gd name="adj" fmla="val 14000"/>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5" name="need 1 circle"/>
          <p:cNvSpPr/>
          <p:nvPr/>
        </p:nvSpPr>
        <p:spPr>
          <a:xfrm>
            <a:off x="6537960" y="3172968"/>
            <a:ext cx="603504" cy="603504"/>
          </a:xfrm>
          <a:prstGeom prst="ellipse">
            <a:avLst/>
          </a:prstGeom>
          <a:solidFill>
            <a:srgbClr val="E4EFF4"/>
          </a:solidFill>
          <a:ln/>
        </p:spPr>
      </p:sp>
      <p:pic>
        <p:nvPicPr>
          <p:cNvPr id="26" name="need 1 icon" descr="preencoded.png"/>
          <p:cNvPicPr>
            <a:picLocks noChangeAspect="1"/>
          </p:cNvPicPr>
          <p:nvPr/>
        </p:nvPicPr>
        <p:blipFill>
          <a:blip r:embed="rId5"/>
          <a:stretch>
            <a:fillRect/>
          </a:stretch>
        </p:blipFill>
        <p:spPr>
          <a:xfrm>
            <a:off x="6700906" y="3335914"/>
            <a:ext cx="277612" cy="277612"/>
          </a:xfrm>
          <a:prstGeom prst="rect">
            <a:avLst/>
          </a:prstGeom>
        </p:spPr>
      </p:pic>
      <p:sp>
        <p:nvSpPr>
          <p:cNvPr id="27" name="Text 22"/>
          <p:cNvSpPr txBox="1"/>
          <p:nvPr/>
        </p:nvSpPr>
        <p:spPr>
          <a:xfrm>
            <a:off x="7315200" y="3136392"/>
            <a:ext cx="4160520" cy="347472"/>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Consistent, defensible decisions</a:t>
            </a:r>
            <a:endParaRPr lang="en-US" sz="1500" dirty="0"/>
          </a:p>
        </p:txBody>
      </p:sp>
      <p:sp>
        <p:nvSpPr>
          <p:cNvPr id="28" name="Text 23"/>
          <p:cNvSpPr txBox="1"/>
          <p:nvPr/>
        </p:nvSpPr>
        <p:spPr>
          <a:xfrm>
            <a:off x="7315200" y="3474720"/>
            <a:ext cx="4160520" cy="347472"/>
          </a:xfrm>
          <a:prstGeom prst="rect">
            <a:avLst/>
          </a:prstGeom>
          <a:noFill/>
          <a:ln/>
        </p:spPr>
        <p:txBody>
          <a:bodyPr wrap="square" lIns="0" tIns="0" rIns="0" bIns="0" rtlCol="0" anchor="ctr"/>
          <a:lstStyle/>
          <a:p>
            <a:pPr marL="0" indent="0">
              <a:buNone/>
            </a:pPr>
            <a:r>
              <a:rPr lang="en-US" sz="1300" dirty="0">
                <a:solidFill>
                  <a:schemeClr val="accent6"/>
                </a:solidFill>
                <a:latin typeface="Instrument Sans" pitchFamily="34" charset="0"/>
                <a:ea typeface="Instrument Sans" pitchFamily="34" charset="-122"/>
                <a:cs typeface="Instrument Sans" pitchFamily="34" charset="-120"/>
              </a:rPr>
              <a:t>Every recommendation cites real past cases</a:t>
            </a:r>
            <a:endParaRPr lang="en-US" sz="1300" dirty="0"/>
          </a:p>
        </p:txBody>
      </p:sp>
      <p:sp>
        <p:nvSpPr>
          <p:cNvPr id="29" name="need 2"/>
          <p:cNvSpPr/>
          <p:nvPr/>
        </p:nvSpPr>
        <p:spPr>
          <a:xfrm>
            <a:off x="6355080" y="4069080"/>
            <a:ext cx="5257800" cy="914400"/>
          </a:xfrm>
          <a:prstGeom prst="roundRect">
            <a:avLst>
              <a:gd name="adj" fmla="val 14000"/>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30" name="need 2 circle"/>
          <p:cNvSpPr/>
          <p:nvPr/>
        </p:nvSpPr>
        <p:spPr>
          <a:xfrm>
            <a:off x="6537960" y="4224528"/>
            <a:ext cx="603504" cy="603504"/>
          </a:xfrm>
          <a:prstGeom prst="ellipse">
            <a:avLst/>
          </a:prstGeom>
          <a:solidFill>
            <a:srgbClr val="E4EFF4"/>
          </a:solidFill>
          <a:ln/>
        </p:spPr>
      </p:sp>
      <p:pic>
        <p:nvPicPr>
          <p:cNvPr id="31" name="need 2 icon" descr="preencoded.png"/>
          <p:cNvPicPr>
            <a:picLocks noChangeAspect="1"/>
          </p:cNvPicPr>
          <p:nvPr/>
        </p:nvPicPr>
        <p:blipFill>
          <a:blip r:embed="rId6"/>
          <a:stretch>
            <a:fillRect/>
          </a:stretch>
        </p:blipFill>
        <p:spPr>
          <a:xfrm>
            <a:off x="6700906" y="4387474"/>
            <a:ext cx="277612" cy="277612"/>
          </a:xfrm>
          <a:prstGeom prst="rect">
            <a:avLst/>
          </a:prstGeom>
        </p:spPr>
      </p:pic>
      <p:sp>
        <p:nvSpPr>
          <p:cNvPr id="32" name="Text 26"/>
          <p:cNvSpPr txBox="1"/>
          <p:nvPr/>
        </p:nvSpPr>
        <p:spPr>
          <a:xfrm>
            <a:off x="7315200" y="4187952"/>
            <a:ext cx="4160520" cy="347472"/>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Prioritize objectively</a:t>
            </a:r>
            <a:endParaRPr lang="en-US" sz="1500" dirty="0"/>
          </a:p>
        </p:txBody>
      </p:sp>
      <p:sp>
        <p:nvSpPr>
          <p:cNvPr id="33" name="Text 27"/>
          <p:cNvSpPr txBox="1"/>
          <p:nvPr/>
        </p:nvSpPr>
        <p:spPr>
          <a:xfrm>
            <a:off x="7315200" y="4526280"/>
            <a:ext cx="4160520" cy="347472"/>
          </a:xfrm>
          <a:prstGeom prst="rect">
            <a:avLst/>
          </a:prstGeom>
          <a:noFill/>
          <a:ln/>
        </p:spPr>
        <p:txBody>
          <a:bodyPr wrap="square" lIns="0" tIns="0" rIns="0" bIns="0" rtlCol="0" anchor="ctr"/>
          <a:lstStyle/>
          <a:p>
            <a:pPr marL="0" indent="0">
              <a:buNone/>
            </a:pPr>
            <a:r>
              <a:rPr lang="en-US" sz="1300" dirty="0">
                <a:solidFill>
                  <a:schemeClr val="accent6"/>
                </a:solidFill>
                <a:latin typeface="Instrument Sans" pitchFamily="34" charset="0"/>
                <a:ea typeface="Instrument Sans" pitchFamily="34" charset="-122"/>
                <a:cs typeface="Instrument Sans" pitchFamily="34" charset="-120"/>
              </a:rPr>
              <a:t>One P1 to P4 score from severity, impact and loss</a:t>
            </a:r>
            <a:endParaRPr lang="en-US" sz="1300" dirty="0"/>
          </a:p>
        </p:txBody>
      </p:sp>
      <p:sp>
        <p:nvSpPr>
          <p:cNvPr id="34" name="need 3"/>
          <p:cNvSpPr/>
          <p:nvPr/>
        </p:nvSpPr>
        <p:spPr>
          <a:xfrm>
            <a:off x="6355080" y="5120640"/>
            <a:ext cx="5257800" cy="914400"/>
          </a:xfrm>
          <a:prstGeom prst="roundRect">
            <a:avLst>
              <a:gd name="adj" fmla="val 14000"/>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35" name="need 3 circle"/>
          <p:cNvSpPr/>
          <p:nvPr/>
        </p:nvSpPr>
        <p:spPr>
          <a:xfrm>
            <a:off x="6537960" y="5276088"/>
            <a:ext cx="603504" cy="603504"/>
          </a:xfrm>
          <a:prstGeom prst="ellipse">
            <a:avLst/>
          </a:prstGeom>
          <a:solidFill>
            <a:srgbClr val="E4EFF4"/>
          </a:solidFill>
          <a:ln/>
        </p:spPr>
      </p:sp>
      <p:pic>
        <p:nvPicPr>
          <p:cNvPr id="36" name="need 3 icon" descr="preencoded.png"/>
          <p:cNvPicPr>
            <a:picLocks noChangeAspect="1"/>
          </p:cNvPicPr>
          <p:nvPr/>
        </p:nvPicPr>
        <p:blipFill>
          <a:blip r:embed="rId7"/>
          <a:stretch>
            <a:fillRect/>
          </a:stretch>
        </p:blipFill>
        <p:spPr>
          <a:xfrm>
            <a:off x="6700906" y="5439034"/>
            <a:ext cx="277612" cy="277612"/>
          </a:xfrm>
          <a:prstGeom prst="rect">
            <a:avLst/>
          </a:prstGeom>
        </p:spPr>
      </p:pic>
      <p:sp>
        <p:nvSpPr>
          <p:cNvPr id="37" name="Text 30"/>
          <p:cNvSpPr txBox="1"/>
          <p:nvPr/>
        </p:nvSpPr>
        <p:spPr>
          <a:xfrm>
            <a:off x="7315200" y="5239512"/>
            <a:ext cx="4160520" cy="347472"/>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Invest in resilience</a:t>
            </a:r>
            <a:endParaRPr lang="en-US" sz="1500" dirty="0"/>
          </a:p>
        </p:txBody>
      </p:sp>
      <p:sp>
        <p:nvSpPr>
          <p:cNvPr id="38" name="Text 31"/>
          <p:cNvSpPr txBox="1"/>
          <p:nvPr/>
        </p:nvSpPr>
        <p:spPr>
          <a:xfrm>
            <a:off x="7315200" y="5577840"/>
            <a:ext cx="4160520" cy="347472"/>
          </a:xfrm>
          <a:prstGeom prst="rect">
            <a:avLst/>
          </a:prstGeom>
          <a:noFill/>
          <a:ln/>
        </p:spPr>
        <p:txBody>
          <a:bodyPr wrap="square" lIns="0" tIns="0" rIns="0" bIns="0" rtlCol="0" anchor="ctr"/>
          <a:lstStyle/>
          <a:p>
            <a:pPr marL="0" indent="0">
              <a:buNone/>
            </a:pPr>
            <a:r>
              <a:rPr lang="en-US" sz="1300" dirty="0">
                <a:solidFill>
                  <a:schemeClr val="accent6"/>
                </a:solidFill>
                <a:latin typeface="Instrument Sans" pitchFamily="34" charset="0"/>
                <a:ea typeface="Instrument Sans" pitchFamily="34" charset="-122"/>
                <a:cs typeface="Instrument Sans" pitchFamily="34" charset="-120"/>
              </a:rPr>
              <a:t>See which supplier profiles need a backup source</a:t>
            </a:r>
            <a:endParaRPr lang="en-US" sz="1300" dirty="0"/>
          </a:p>
        </p:txBody>
      </p:sp>
      <p:sp>
        <p:nvSpPr>
          <p:cNvPr id="39"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Bricolage Grotesque" pitchFamily="34" charset="0"/>
                <a:ea typeface="Bricolage Grotesque" pitchFamily="34" charset="-122"/>
                <a:cs typeface="Bricolage Grotesque" pitchFamily="34" charset="-120"/>
              </a:rPr>
              <a:t>What the assistant does</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marL="0" indent="0">
              <a:buNone/>
            </a:pPr>
            <a:r>
              <a:rPr lang="en-US" sz="1600" i="1" dirty="0">
                <a:solidFill>
                  <a:schemeClr val="accent6"/>
                </a:solidFill>
                <a:latin typeface="Instrument Sans" pitchFamily="34" charset="0"/>
                <a:ea typeface="Instrument Sans" pitchFamily="34" charset="-122"/>
                <a:cs typeface="Instrument Sans" pitchFamily="34" charset="-120"/>
              </a:rPr>
              <a:t>Describe the disruption in plain English. Get an evidence-backed briefing back, live, in seconds.</a:t>
            </a:r>
            <a:endParaRPr lang="en-US" sz="1600" dirty="0"/>
          </a:p>
        </p:txBody>
      </p:sp>
      <p:sp>
        <p:nvSpPr>
          <p:cNvPr id="4" name="capability 0"/>
          <p:cNvSpPr/>
          <p:nvPr/>
        </p:nvSpPr>
        <p:spPr>
          <a:xfrm>
            <a:off x="548640" y="1783080"/>
            <a:ext cx="3520440" cy="2011680"/>
          </a:xfrm>
          <a:prstGeom prst="roundRect">
            <a:avLst>
              <a:gd name="adj" fmla="val 6364"/>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5" name="capability 0 circle"/>
          <p:cNvSpPr/>
          <p:nvPr/>
        </p:nvSpPr>
        <p:spPr>
          <a:xfrm>
            <a:off x="822960" y="2057400"/>
            <a:ext cx="640080" cy="640080"/>
          </a:xfrm>
          <a:prstGeom prst="ellipse">
            <a:avLst/>
          </a:prstGeom>
          <a:solidFill>
            <a:srgbClr val="E4EFF4"/>
          </a:solidFill>
          <a:ln/>
        </p:spPr>
      </p:sp>
      <p:pic>
        <p:nvPicPr>
          <p:cNvPr id="6" name="capability 0 icon" descr="preencoded.png"/>
          <p:cNvPicPr>
            <a:picLocks noChangeAspect="1"/>
          </p:cNvPicPr>
          <p:nvPr/>
        </p:nvPicPr>
        <p:blipFill>
          <a:blip r:embed="rId3"/>
          <a:stretch>
            <a:fillRect/>
          </a:stretch>
        </p:blipFill>
        <p:spPr>
          <a:xfrm>
            <a:off x="995782" y="2230222"/>
            <a:ext cx="294437" cy="294437"/>
          </a:xfrm>
          <a:prstGeom prst="rect">
            <a:avLst/>
          </a:prstGeom>
        </p:spPr>
      </p:pic>
      <p:sp>
        <p:nvSpPr>
          <p:cNvPr id="7" name="Text 4"/>
          <p:cNvSpPr txBox="1"/>
          <p:nvPr/>
        </p:nvSpPr>
        <p:spPr>
          <a:xfrm>
            <a:off x="822960" y="2788920"/>
            <a:ext cx="3017520" cy="365760"/>
          </a:xfrm>
          <a:prstGeom prst="rect">
            <a:avLst/>
          </a:prstGeom>
          <a:noFill/>
          <a:ln/>
        </p:spPr>
        <p:txBody>
          <a:bodyPr wrap="square" lIns="0" tIns="0" rIns="0" bIns="0" rtlCol="0" anchor="ctr"/>
          <a:lstStyle/>
          <a:p>
            <a:pPr marL="0" indent="0">
              <a:buNone/>
            </a:pPr>
            <a:r>
              <a:rPr lang="en-US" sz="1700" b="1" dirty="0">
                <a:solidFill>
                  <a:schemeClr val="tx1"/>
                </a:solidFill>
                <a:latin typeface="Instrument Sans" pitchFamily="34" charset="0"/>
                <a:ea typeface="Instrument Sans" pitchFamily="34" charset="-122"/>
                <a:cs typeface="Instrument Sans" pitchFamily="34" charset="-120"/>
              </a:rPr>
              <a:t>Understands it</a:t>
            </a:r>
            <a:endParaRPr lang="en-US" sz="1700" dirty="0"/>
          </a:p>
        </p:txBody>
      </p:sp>
      <p:sp>
        <p:nvSpPr>
          <p:cNvPr id="8" name="Text 5"/>
          <p:cNvSpPr txBox="1"/>
          <p:nvPr/>
        </p:nvSpPr>
        <p:spPr>
          <a:xfrm>
            <a:off x="822960" y="3154680"/>
            <a:ext cx="3017520" cy="548640"/>
          </a:xfrm>
          <a:prstGeom prst="rect">
            <a:avLst/>
          </a:prstGeom>
          <a:noFill/>
          <a:ln/>
        </p:spPr>
        <p:txBody>
          <a:bodyPr wrap="square" lIns="0" tIns="0" rIns="0" bIns="0" rtlCol="0" anchor="t"/>
          <a:lstStyle/>
          <a:p>
            <a:pPr marL="0" indent="0">
              <a:buNone/>
            </a:pPr>
            <a:r>
              <a:rPr lang="en-US" sz="1300" dirty="0">
                <a:solidFill>
                  <a:schemeClr val="accent6"/>
                </a:solidFill>
                <a:latin typeface="Instrument Sans" pitchFamily="34" charset="0"/>
                <a:ea typeface="Instrument Sans" pitchFamily="34" charset="-122"/>
                <a:cs typeface="Instrument Sans" pitchFamily="34" charset="-120"/>
              </a:rPr>
              <a:t>Reads type, industry, region, supplier tier, backup and severity from the text</a:t>
            </a:r>
            <a:endParaRPr lang="en-US" sz="1300" dirty="0"/>
          </a:p>
        </p:txBody>
      </p:sp>
      <p:sp>
        <p:nvSpPr>
          <p:cNvPr id="9" name="capability 1"/>
          <p:cNvSpPr/>
          <p:nvPr/>
        </p:nvSpPr>
        <p:spPr>
          <a:xfrm>
            <a:off x="4297680" y="1783080"/>
            <a:ext cx="3520440" cy="2011680"/>
          </a:xfrm>
          <a:prstGeom prst="roundRect">
            <a:avLst>
              <a:gd name="adj" fmla="val 6364"/>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0" name="capability 1 circle"/>
          <p:cNvSpPr/>
          <p:nvPr/>
        </p:nvSpPr>
        <p:spPr>
          <a:xfrm>
            <a:off x="4572000" y="2057400"/>
            <a:ext cx="640080" cy="640080"/>
          </a:xfrm>
          <a:prstGeom prst="ellipse">
            <a:avLst/>
          </a:prstGeom>
          <a:solidFill>
            <a:srgbClr val="E4EFF4"/>
          </a:solidFill>
          <a:ln/>
        </p:spPr>
      </p:sp>
      <p:pic>
        <p:nvPicPr>
          <p:cNvPr id="11" name="capability 1 icon" descr="preencoded.png"/>
          <p:cNvPicPr>
            <a:picLocks noChangeAspect="1"/>
          </p:cNvPicPr>
          <p:nvPr/>
        </p:nvPicPr>
        <p:blipFill>
          <a:blip r:embed="rId4"/>
          <a:stretch>
            <a:fillRect/>
          </a:stretch>
        </p:blipFill>
        <p:spPr>
          <a:xfrm>
            <a:off x="4744822" y="2230222"/>
            <a:ext cx="294437" cy="294437"/>
          </a:xfrm>
          <a:prstGeom prst="rect">
            <a:avLst/>
          </a:prstGeom>
        </p:spPr>
      </p:pic>
      <p:sp>
        <p:nvSpPr>
          <p:cNvPr id="12" name="Text 8"/>
          <p:cNvSpPr txBox="1"/>
          <p:nvPr/>
        </p:nvSpPr>
        <p:spPr>
          <a:xfrm>
            <a:off x="4572000" y="2788920"/>
            <a:ext cx="3017520" cy="365760"/>
          </a:xfrm>
          <a:prstGeom prst="rect">
            <a:avLst/>
          </a:prstGeom>
          <a:noFill/>
          <a:ln/>
        </p:spPr>
        <p:txBody>
          <a:bodyPr wrap="square" lIns="0" tIns="0" rIns="0" bIns="0" rtlCol="0" anchor="ctr"/>
          <a:lstStyle/>
          <a:p>
            <a:pPr marL="0" indent="0">
              <a:buNone/>
            </a:pPr>
            <a:r>
              <a:rPr lang="en-US" sz="1700" b="1" dirty="0">
                <a:solidFill>
                  <a:schemeClr val="tx1"/>
                </a:solidFill>
                <a:latin typeface="Instrument Sans" pitchFamily="34" charset="0"/>
                <a:ea typeface="Instrument Sans" pitchFamily="34" charset="-122"/>
                <a:cs typeface="Instrument Sans" pitchFamily="34" charset="-120"/>
              </a:rPr>
              <a:t>Finds precedent</a:t>
            </a:r>
            <a:endParaRPr lang="en-US" sz="1700" dirty="0"/>
          </a:p>
        </p:txBody>
      </p:sp>
      <p:sp>
        <p:nvSpPr>
          <p:cNvPr id="13" name="Text 9"/>
          <p:cNvSpPr txBox="1"/>
          <p:nvPr/>
        </p:nvSpPr>
        <p:spPr>
          <a:xfrm>
            <a:off x="4572000" y="3154680"/>
            <a:ext cx="3017520" cy="548640"/>
          </a:xfrm>
          <a:prstGeom prst="rect">
            <a:avLst/>
          </a:prstGeom>
          <a:noFill/>
          <a:ln/>
        </p:spPr>
        <p:txBody>
          <a:bodyPr wrap="square" lIns="0" tIns="0" rIns="0" bIns="0" rtlCol="0" anchor="t"/>
          <a:lstStyle/>
          <a:p>
            <a:pPr marL="0" indent="0">
              <a:buNone/>
            </a:pPr>
            <a:r>
              <a:rPr lang="en-US" sz="1300" dirty="0">
                <a:solidFill>
                  <a:schemeClr val="accent6"/>
                </a:solidFill>
                <a:latin typeface="Instrument Sans" pitchFamily="34" charset="0"/>
                <a:ea typeface="Instrument Sans" pitchFamily="34" charset="-122"/>
                <a:cs typeface="Instrument Sans" pitchFamily="34" charset="-120"/>
              </a:rPr>
              <a:t>Hybrid search over 100,000 past disruptions with metadata filters</a:t>
            </a:r>
            <a:endParaRPr lang="en-US" sz="1300" dirty="0"/>
          </a:p>
        </p:txBody>
      </p:sp>
      <p:sp>
        <p:nvSpPr>
          <p:cNvPr id="14" name="capability 2"/>
          <p:cNvSpPr/>
          <p:nvPr/>
        </p:nvSpPr>
        <p:spPr>
          <a:xfrm>
            <a:off x="8046720" y="1783080"/>
            <a:ext cx="3520440" cy="2011680"/>
          </a:xfrm>
          <a:prstGeom prst="roundRect">
            <a:avLst>
              <a:gd name="adj" fmla="val 6364"/>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5" name="capability 2 circle"/>
          <p:cNvSpPr/>
          <p:nvPr/>
        </p:nvSpPr>
        <p:spPr>
          <a:xfrm>
            <a:off x="8321040" y="2057400"/>
            <a:ext cx="640080" cy="640080"/>
          </a:xfrm>
          <a:prstGeom prst="ellipse">
            <a:avLst/>
          </a:prstGeom>
          <a:solidFill>
            <a:srgbClr val="E4EFF4"/>
          </a:solidFill>
          <a:ln/>
        </p:spPr>
      </p:sp>
      <p:pic>
        <p:nvPicPr>
          <p:cNvPr id="16" name="capability 2 icon" descr="preencoded.png"/>
          <p:cNvPicPr>
            <a:picLocks noChangeAspect="1"/>
          </p:cNvPicPr>
          <p:nvPr/>
        </p:nvPicPr>
        <p:blipFill>
          <a:blip r:embed="rId5"/>
          <a:stretch>
            <a:fillRect/>
          </a:stretch>
        </p:blipFill>
        <p:spPr>
          <a:xfrm>
            <a:off x="8493862" y="2230222"/>
            <a:ext cx="294437" cy="294437"/>
          </a:xfrm>
          <a:prstGeom prst="rect">
            <a:avLst/>
          </a:prstGeom>
        </p:spPr>
      </p:pic>
      <p:sp>
        <p:nvSpPr>
          <p:cNvPr id="17" name="Text 12"/>
          <p:cNvSpPr txBox="1"/>
          <p:nvPr/>
        </p:nvSpPr>
        <p:spPr>
          <a:xfrm>
            <a:off x="8321040" y="2788920"/>
            <a:ext cx="3017520" cy="365760"/>
          </a:xfrm>
          <a:prstGeom prst="rect">
            <a:avLst/>
          </a:prstGeom>
          <a:noFill/>
          <a:ln/>
        </p:spPr>
        <p:txBody>
          <a:bodyPr wrap="square" lIns="0" tIns="0" rIns="0" bIns="0" rtlCol="0" anchor="ctr"/>
          <a:lstStyle/>
          <a:p>
            <a:pPr marL="0" indent="0">
              <a:buNone/>
            </a:pPr>
            <a:r>
              <a:rPr lang="en-US" sz="1700" b="1" dirty="0">
                <a:solidFill>
                  <a:schemeClr val="tx1"/>
                </a:solidFill>
                <a:latin typeface="Instrument Sans" pitchFamily="34" charset="0"/>
                <a:ea typeface="Instrument Sans" pitchFamily="34" charset="-122"/>
                <a:cs typeface="Instrument Sans" pitchFamily="34" charset="-120"/>
              </a:rPr>
              <a:t>Predicts the impact</a:t>
            </a:r>
            <a:endParaRPr lang="en-US" sz="1700" dirty="0"/>
          </a:p>
        </p:txBody>
      </p:sp>
      <p:sp>
        <p:nvSpPr>
          <p:cNvPr id="18" name="Text 13"/>
          <p:cNvSpPr txBox="1"/>
          <p:nvPr/>
        </p:nvSpPr>
        <p:spPr>
          <a:xfrm>
            <a:off x="8321040" y="3154680"/>
            <a:ext cx="3017520" cy="548640"/>
          </a:xfrm>
          <a:prstGeom prst="rect">
            <a:avLst/>
          </a:prstGeom>
          <a:noFill/>
          <a:ln/>
        </p:spPr>
        <p:txBody>
          <a:bodyPr wrap="square" lIns="0" tIns="0" rIns="0" bIns="0" rtlCol="0" anchor="t"/>
          <a:lstStyle/>
          <a:p>
            <a:pPr marL="0" indent="0">
              <a:buNone/>
            </a:pPr>
            <a:r>
              <a:rPr lang="en-US" sz="1300" dirty="0">
                <a:solidFill>
                  <a:schemeClr val="accent6"/>
                </a:solidFill>
                <a:latin typeface="Instrument Sans" pitchFamily="34" charset="0"/>
                <a:ea typeface="Instrument Sans" pitchFamily="34" charset="-122"/>
                <a:cs typeface="Instrument Sans" pitchFamily="34" charset="-120"/>
              </a:rPr>
              <a:t>Production, revenue loss and recovery time, each with a P10 to P90 range</a:t>
            </a:r>
            <a:endParaRPr lang="en-US" sz="1300" dirty="0"/>
          </a:p>
        </p:txBody>
      </p:sp>
      <p:sp>
        <p:nvSpPr>
          <p:cNvPr id="19" name="capability 3"/>
          <p:cNvSpPr/>
          <p:nvPr/>
        </p:nvSpPr>
        <p:spPr>
          <a:xfrm>
            <a:off x="548640" y="4023360"/>
            <a:ext cx="3520440" cy="2011680"/>
          </a:xfrm>
          <a:prstGeom prst="roundRect">
            <a:avLst>
              <a:gd name="adj" fmla="val 6364"/>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0" name="capability 3 circle"/>
          <p:cNvSpPr/>
          <p:nvPr/>
        </p:nvSpPr>
        <p:spPr>
          <a:xfrm>
            <a:off x="822960" y="4297680"/>
            <a:ext cx="640080" cy="640080"/>
          </a:xfrm>
          <a:prstGeom prst="ellipse">
            <a:avLst/>
          </a:prstGeom>
          <a:solidFill>
            <a:srgbClr val="E4EFF4"/>
          </a:solidFill>
          <a:ln/>
        </p:spPr>
      </p:sp>
      <p:pic>
        <p:nvPicPr>
          <p:cNvPr id="21" name="capability 3 icon" descr="preencoded.png"/>
          <p:cNvPicPr>
            <a:picLocks noChangeAspect="1"/>
          </p:cNvPicPr>
          <p:nvPr/>
        </p:nvPicPr>
        <p:blipFill>
          <a:blip r:embed="rId6"/>
          <a:stretch>
            <a:fillRect/>
          </a:stretch>
        </p:blipFill>
        <p:spPr>
          <a:xfrm>
            <a:off x="995782" y="4470502"/>
            <a:ext cx="294437" cy="294437"/>
          </a:xfrm>
          <a:prstGeom prst="rect">
            <a:avLst/>
          </a:prstGeom>
        </p:spPr>
      </p:pic>
      <p:sp>
        <p:nvSpPr>
          <p:cNvPr id="22" name="Text 16"/>
          <p:cNvSpPr txBox="1"/>
          <p:nvPr/>
        </p:nvSpPr>
        <p:spPr>
          <a:xfrm>
            <a:off x="822960" y="5029200"/>
            <a:ext cx="3017520" cy="365760"/>
          </a:xfrm>
          <a:prstGeom prst="rect">
            <a:avLst/>
          </a:prstGeom>
          <a:noFill/>
          <a:ln/>
        </p:spPr>
        <p:txBody>
          <a:bodyPr wrap="square" lIns="0" tIns="0" rIns="0" bIns="0" rtlCol="0" anchor="ctr"/>
          <a:lstStyle/>
          <a:p>
            <a:pPr marL="0" indent="0">
              <a:buNone/>
            </a:pPr>
            <a:r>
              <a:rPr lang="en-US" sz="1700" b="1" dirty="0">
                <a:solidFill>
                  <a:schemeClr val="tx1"/>
                </a:solidFill>
                <a:latin typeface="Instrument Sans" pitchFamily="34" charset="0"/>
                <a:ea typeface="Instrument Sans" pitchFamily="34" charset="-122"/>
                <a:cs typeface="Instrument Sans" pitchFamily="34" charset="-120"/>
              </a:rPr>
              <a:t>Recommends a response</a:t>
            </a:r>
            <a:endParaRPr lang="en-US" sz="1700" dirty="0"/>
          </a:p>
        </p:txBody>
      </p:sp>
      <p:sp>
        <p:nvSpPr>
          <p:cNvPr id="23" name="Text 17"/>
          <p:cNvSpPr txBox="1"/>
          <p:nvPr/>
        </p:nvSpPr>
        <p:spPr>
          <a:xfrm>
            <a:off x="822960" y="5394960"/>
            <a:ext cx="3017520" cy="548640"/>
          </a:xfrm>
          <a:prstGeom prst="rect">
            <a:avLst/>
          </a:prstGeom>
          <a:noFill/>
          <a:ln/>
        </p:spPr>
        <p:txBody>
          <a:bodyPr wrap="square" lIns="0" tIns="0" rIns="0" bIns="0" rtlCol="0" anchor="t"/>
          <a:lstStyle/>
          <a:p>
            <a:pPr marL="0" indent="0">
              <a:buNone/>
            </a:pPr>
            <a:r>
              <a:rPr lang="en-US" sz="1300" dirty="0">
                <a:solidFill>
                  <a:schemeClr val="accent6"/>
                </a:solidFill>
                <a:latin typeface="Instrument Sans" pitchFamily="34" charset="0"/>
                <a:ea typeface="Instrument Sans" pitchFamily="34" charset="-122"/>
                <a:cs typeface="Instrument Sans" pitchFamily="34" charset="-120"/>
              </a:rPr>
              <a:t>Ranks 5 strategies on comparable past cases and writes the action plan</a:t>
            </a:r>
            <a:endParaRPr lang="en-US" sz="1300" dirty="0"/>
          </a:p>
        </p:txBody>
      </p:sp>
      <p:sp>
        <p:nvSpPr>
          <p:cNvPr id="24" name="capability 4"/>
          <p:cNvSpPr/>
          <p:nvPr/>
        </p:nvSpPr>
        <p:spPr>
          <a:xfrm>
            <a:off x="4297680" y="4023360"/>
            <a:ext cx="3520440" cy="2011680"/>
          </a:xfrm>
          <a:prstGeom prst="roundRect">
            <a:avLst>
              <a:gd name="adj" fmla="val 6364"/>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5" name="capability 4 circle"/>
          <p:cNvSpPr/>
          <p:nvPr/>
        </p:nvSpPr>
        <p:spPr>
          <a:xfrm>
            <a:off x="4572000" y="4297680"/>
            <a:ext cx="640080" cy="640080"/>
          </a:xfrm>
          <a:prstGeom prst="ellipse">
            <a:avLst/>
          </a:prstGeom>
          <a:solidFill>
            <a:srgbClr val="E4EFF4"/>
          </a:solidFill>
          <a:ln/>
        </p:spPr>
      </p:sp>
      <p:pic>
        <p:nvPicPr>
          <p:cNvPr id="26" name="capability 4 icon" descr="preencoded.png"/>
          <p:cNvPicPr>
            <a:picLocks noChangeAspect="1"/>
          </p:cNvPicPr>
          <p:nvPr/>
        </p:nvPicPr>
        <p:blipFill>
          <a:blip r:embed="rId7"/>
          <a:stretch>
            <a:fillRect/>
          </a:stretch>
        </p:blipFill>
        <p:spPr>
          <a:xfrm>
            <a:off x="4744822" y="4470502"/>
            <a:ext cx="294437" cy="294437"/>
          </a:xfrm>
          <a:prstGeom prst="rect">
            <a:avLst/>
          </a:prstGeom>
        </p:spPr>
      </p:pic>
      <p:sp>
        <p:nvSpPr>
          <p:cNvPr id="27" name="Text 20"/>
          <p:cNvSpPr txBox="1"/>
          <p:nvPr/>
        </p:nvSpPr>
        <p:spPr>
          <a:xfrm>
            <a:off x="4572000" y="5029200"/>
            <a:ext cx="3017520" cy="365760"/>
          </a:xfrm>
          <a:prstGeom prst="rect">
            <a:avLst/>
          </a:prstGeom>
          <a:noFill/>
          <a:ln/>
        </p:spPr>
        <p:txBody>
          <a:bodyPr wrap="square" lIns="0" tIns="0" rIns="0" bIns="0" rtlCol="0" anchor="ctr"/>
          <a:lstStyle/>
          <a:p>
            <a:pPr marL="0" indent="0">
              <a:buNone/>
            </a:pPr>
            <a:r>
              <a:rPr lang="en-US" sz="1700" b="1" dirty="0">
                <a:solidFill>
                  <a:schemeClr val="tx1"/>
                </a:solidFill>
                <a:latin typeface="Instrument Sans" pitchFamily="34" charset="0"/>
                <a:ea typeface="Instrument Sans" pitchFamily="34" charset="-122"/>
                <a:cs typeface="Instrument Sans" pitchFamily="34" charset="-120"/>
              </a:rPr>
              <a:t>Checks itself</a:t>
            </a:r>
            <a:endParaRPr lang="en-US" sz="1700" dirty="0"/>
          </a:p>
        </p:txBody>
      </p:sp>
      <p:sp>
        <p:nvSpPr>
          <p:cNvPr id="28" name="Text 21"/>
          <p:cNvSpPr txBox="1"/>
          <p:nvPr/>
        </p:nvSpPr>
        <p:spPr>
          <a:xfrm>
            <a:off x="4572000" y="5394960"/>
            <a:ext cx="3017520" cy="548640"/>
          </a:xfrm>
          <a:prstGeom prst="rect">
            <a:avLst/>
          </a:prstGeom>
          <a:noFill/>
          <a:ln/>
        </p:spPr>
        <p:txBody>
          <a:bodyPr wrap="square" lIns="0" tIns="0" rIns="0" bIns="0" rtlCol="0" anchor="t"/>
          <a:lstStyle/>
          <a:p>
            <a:pPr marL="0" indent="0">
              <a:buNone/>
            </a:pPr>
            <a:r>
              <a:rPr lang="en-US" sz="1300" dirty="0">
                <a:solidFill>
                  <a:schemeClr val="accent6"/>
                </a:solidFill>
                <a:latin typeface="Instrument Sans" pitchFamily="34" charset="0"/>
                <a:ea typeface="Instrument Sans" pitchFamily="34" charset="-122"/>
                <a:cs typeface="Instrument Sans" pitchFamily="34" charset="-120"/>
              </a:rPr>
              <a:t>An LLM judge scores the plan on 5 criteria and sends it back once if weak</a:t>
            </a:r>
            <a:endParaRPr lang="en-US" sz="1300" dirty="0"/>
          </a:p>
        </p:txBody>
      </p:sp>
      <p:sp>
        <p:nvSpPr>
          <p:cNvPr id="29" name="capability 5"/>
          <p:cNvSpPr/>
          <p:nvPr/>
        </p:nvSpPr>
        <p:spPr>
          <a:xfrm>
            <a:off x="8046720" y="4023360"/>
            <a:ext cx="3520440" cy="2011680"/>
          </a:xfrm>
          <a:prstGeom prst="roundRect">
            <a:avLst>
              <a:gd name="adj" fmla="val 6364"/>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30" name="capability 5 circle"/>
          <p:cNvSpPr/>
          <p:nvPr/>
        </p:nvSpPr>
        <p:spPr>
          <a:xfrm>
            <a:off x="8321040" y="4297680"/>
            <a:ext cx="640080" cy="640080"/>
          </a:xfrm>
          <a:prstGeom prst="ellipse">
            <a:avLst/>
          </a:prstGeom>
          <a:solidFill>
            <a:srgbClr val="E4EFF4"/>
          </a:solidFill>
          <a:ln/>
        </p:spPr>
      </p:sp>
      <p:pic>
        <p:nvPicPr>
          <p:cNvPr id="31" name="capability 5 icon" descr="preencoded.png"/>
          <p:cNvPicPr>
            <a:picLocks noChangeAspect="1"/>
          </p:cNvPicPr>
          <p:nvPr/>
        </p:nvPicPr>
        <p:blipFill>
          <a:blip r:embed="rId8"/>
          <a:stretch>
            <a:fillRect/>
          </a:stretch>
        </p:blipFill>
        <p:spPr>
          <a:xfrm>
            <a:off x="8493862" y="4470502"/>
            <a:ext cx="294437" cy="294437"/>
          </a:xfrm>
          <a:prstGeom prst="rect">
            <a:avLst/>
          </a:prstGeom>
        </p:spPr>
      </p:pic>
      <p:sp>
        <p:nvSpPr>
          <p:cNvPr id="32" name="Text 24"/>
          <p:cNvSpPr txBox="1"/>
          <p:nvPr/>
        </p:nvSpPr>
        <p:spPr>
          <a:xfrm>
            <a:off x="8321040" y="5029200"/>
            <a:ext cx="3017520" cy="365760"/>
          </a:xfrm>
          <a:prstGeom prst="rect">
            <a:avLst/>
          </a:prstGeom>
          <a:noFill/>
          <a:ln/>
        </p:spPr>
        <p:txBody>
          <a:bodyPr wrap="square" lIns="0" tIns="0" rIns="0" bIns="0" rtlCol="0" anchor="ctr"/>
          <a:lstStyle/>
          <a:p>
            <a:pPr marL="0" indent="0">
              <a:buNone/>
            </a:pPr>
            <a:r>
              <a:rPr lang="en-US" sz="1700" b="1" dirty="0">
                <a:solidFill>
                  <a:schemeClr val="tx1"/>
                </a:solidFill>
                <a:latin typeface="Instrument Sans" pitchFamily="34" charset="0"/>
                <a:ea typeface="Instrument Sans" pitchFamily="34" charset="-122"/>
                <a:cs typeface="Instrument Sans" pitchFamily="34" charset="-120"/>
              </a:rPr>
              <a:t>Learns from feedback</a:t>
            </a:r>
            <a:endParaRPr lang="en-US" sz="1700" dirty="0"/>
          </a:p>
        </p:txBody>
      </p:sp>
      <p:sp>
        <p:nvSpPr>
          <p:cNvPr id="33" name="Text 25"/>
          <p:cNvSpPr txBox="1"/>
          <p:nvPr/>
        </p:nvSpPr>
        <p:spPr>
          <a:xfrm>
            <a:off x="8321040" y="5394960"/>
            <a:ext cx="3017520" cy="548640"/>
          </a:xfrm>
          <a:prstGeom prst="rect">
            <a:avLst/>
          </a:prstGeom>
          <a:noFill/>
          <a:ln/>
        </p:spPr>
        <p:txBody>
          <a:bodyPr wrap="square" lIns="0" tIns="0" rIns="0" bIns="0" rtlCol="0" anchor="t"/>
          <a:lstStyle/>
          <a:p>
            <a:pPr marL="0" indent="0">
              <a:buNone/>
            </a:pPr>
            <a:r>
              <a:rPr lang="en-US" sz="1300" dirty="0">
                <a:solidFill>
                  <a:schemeClr val="accent6"/>
                </a:solidFill>
                <a:latin typeface="Instrument Sans" pitchFamily="34" charset="0"/>
                <a:ea typeface="Instrument Sans" pitchFamily="34" charset="-122"/>
                <a:cs typeface="Instrument Sans" pitchFamily="34" charset="-120"/>
              </a:rPr>
              <a:t>Ratings re-weight strategies; real outcomes retrain the models</a:t>
            </a:r>
            <a:endParaRPr lang="en-US" sz="1300" dirty="0"/>
          </a:p>
        </p:txBody>
      </p:sp>
      <p:sp>
        <p:nvSpPr>
          <p:cNvPr id="34"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Bricolage Grotesque" pitchFamily="34" charset="0"/>
                <a:ea typeface="Bricolage Grotesque" pitchFamily="34" charset="-122"/>
                <a:cs typeface="Bricolage Grotesque" pitchFamily="34" charset="-120"/>
              </a:rPr>
              <a:t>The data: 100,000 past disruptions</a:t>
            </a:r>
            <a:endParaRPr lang="en-US" sz="3200" dirty="0"/>
          </a:p>
        </p:txBody>
      </p:sp>
      <p:sp>
        <p:nvSpPr>
          <p:cNvPr id="3" name="chart card"/>
          <p:cNvSpPr/>
          <p:nvPr/>
        </p:nvSpPr>
        <p:spPr>
          <a:xfrm>
            <a:off x="548640" y="1325880"/>
            <a:ext cx="6035040" cy="4846320"/>
          </a:xfrm>
          <a:prstGeom prst="roundRect">
            <a:avLst>
              <a:gd name="adj" fmla="val 2642"/>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graphicFrame>
        <p:nvGraphicFramePr>
          <p:cNvPr id="4" name="type chart"/>
          <p:cNvGraphicFramePr/>
          <p:nvPr/>
        </p:nvGraphicFramePr>
        <p:xfrm>
          <a:off x="731520" y="1463040"/>
          <a:ext cx="56692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tat 0"/>
          <p:cNvSpPr/>
          <p:nvPr/>
        </p:nvSpPr>
        <p:spPr>
          <a:xfrm>
            <a:off x="6812280" y="1325880"/>
            <a:ext cx="2331720" cy="1417320"/>
          </a:xfrm>
          <a:prstGeom prst="roundRect">
            <a:avLst>
              <a:gd name="adj" fmla="val 9032"/>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6" name="Text 3"/>
          <p:cNvSpPr txBox="1"/>
          <p:nvPr/>
        </p:nvSpPr>
        <p:spPr>
          <a:xfrm>
            <a:off x="6995160" y="1463040"/>
            <a:ext cx="2011680" cy="548640"/>
          </a:xfrm>
          <a:prstGeom prst="rect">
            <a:avLst/>
          </a:prstGeom>
          <a:noFill/>
          <a:ln/>
        </p:spPr>
        <p:txBody>
          <a:bodyPr wrap="square" lIns="0" tIns="0" rIns="0" bIns="0" rtlCol="0" anchor="ctr"/>
          <a:lstStyle/>
          <a:p>
            <a:pPr marL="0" indent="0">
              <a:buNone/>
            </a:pPr>
            <a:r>
              <a:rPr lang="en-US" sz="2800" b="1" dirty="0">
                <a:solidFill>
                  <a:schemeClr val="accent1"/>
                </a:solidFill>
                <a:latin typeface="Bricolage Grotesque" pitchFamily="34" charset="0"/>
                <a:ea typeface="Bricolage Grotesque" pitchFamily="34" charset="-122"/>
                <a:cs typeface="Bricolage Grotesque" pitchFamily="34" charset="-120"/>
              </a:rPr>
              <a:t>15</a:t>
            </a:r>
            <a:endParaRPr lang="en-US" sz="2800" dirty="0"/>
          </a:p>
        </p:txBody>
      </p:sp>
      <p:sp>
        <p:nvSpPr>
          <p:cNvPr id="7" name="Text 4"/>
          <p:cNvSpPr txBox="1"/>
          <p:nvPr/>
        </p:nvSpPr>
        <p:spPr>
          <a:xfrm>
            <a:off x="6995160" y="2011680"/>
            <a:ext cx="2011680" cy="64008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fields per event: what happened, who it hit, how bad, how it was handled</a:t>
            </a:r>
            <a:endParaRPr lang="en-US" sz="1100" dirty="0"/>
          </a:p>
        </p:txBody>
      </p:sp>
      <p:sp>
        <p:nvSpPr>
          <p:cNvPr id="8" name="stat 1"/>
          <p:cNvSpPr/>
          <p:nvPr/>
        </p:nvSpPr>
        <p:spPr>
          <a:xfrm>
            <a:off x="9281160" y="1325880"/>
            <a:ext cx="2331720" cy="1417320"/>
          </a:xfrm>
          <a:prstGeom prst="roundRect">
            <a:avLst>
              <a:gd name="adj" fmla="val 9032"/>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9" name="Text 6"/>
          <p:cNvSpPr txBox="1"/>
          <p:nvPr/>
        </p:nvSpPr>
        <p:spPr>
          <a:xfrm>
            <a:off x="9464040" y="1463040"/>
            <a:ext cx="2011680" cy="548640"/>
          </a:xfrm>
          <a:prstGeom prst="rect">
            <a:avLst/>
          </a:prstGeom>
          <a:noFill/>
          <a:ln/>
        </p:spPr>
        <p:txBody>
          <a:bodyPr wrap="square" lIns="0" tIns="0" rIns="0" bIns="0" rtlCol="0" anchor="ctr"/>
          <a:lstStyle/>
          <a:p>
            <a:pPr marL="0" indent="0">
              <a:buNone/>
            </a:pPr>
            <a:r>
              <a:rPr lang="en-US" sz="2800" b="1" dirty="0">
                <a:solidFill>
                  <a:schemeClr val="accent1"/>
                </a:solidFill>
                <a:latin typeface="Bricolage Grotesque" pitchFamily="34" charset="0"/>
                <a:ea typeface="Bricolage Grotesque" pitchFamily="34" charset="-122"/>
                <a:cs typeface="Bricolage Grotesque" pitchFamily="34" charset="-120"/>
              </a:rPr>
              <a:t>61 days</a:t>
            </a:r>
            <a:endParaRPr lang="en-US" sz="2800" dirty="0"/>
          </a:p>
        </p:txBody>
      </p:sp>
      <p:sp>
        <p:nvSpPr>
          <p:cNvPr id="10" name="Text 7"/>
          <p:cNvSpPr txBox="1"/>
          <p:nvPr/>
        </p:nvSpPr>
        <p:spPr>
          <a:xfrm>
            <a:off x="9464040" y="2011680"/>
            <a:ext cx="2011680" cy="64008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median time to full recovery (range 8 to 798)</a:t>
            </a:r>
            <a:endParaRPr lang="en-US" sz="1100" dirty="0"/>
          </a:p>
        </p:txBody>
      </p:sp>
      <p:sp>
        <p:nvSpPr>
          <p:cNvPr id="11" name="stat 2"/>
          <p:cNvSpPr/>
          <p:nvPr/>
        </p:nvSpPr>
        <p:spPr>
          <a:xfrm>
            <a:off x="6812280" y="2926080"/>
            <a:ext cx="2331720" cy="1417320"/>
          </a:xfrm>
          <a:prstGeom prst="roundRect">
            <a:avLst>
              <a:gd name="adj" fmla="val 9032"/>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2" name="Text 9"/>
          <p:cNvSpPr txBox="1"/>
          <p:nvPr/>
        </p:nvSpPr>
        <p:spPr>
          <a:xfrm>
            <a:off x="6995160" y="3063240"/>
            <a:ext cx="2011680" cy="548640"/>
          </a:xfrm>
          <a:prstGeom prst="rect">
            <a:avLst/>
          </a:prstGeom>
          <a:noFill/>
          <a:ln/>
        </p:spPr>
        <p:txBody>
          <a:bodyPr wrap="square" lIns="0" tIns="0" rIns="0" bIns="0" rtlCol="0" anchor="ctr"/>
          <a:lstStyle/>
          <a:p>
            <a:pPr marL="0" indent="0">
              <a:buNone/>
            </a:pPr>
            <a:r>
              <a:rPr lang="en-US" sz="2800" b="1" dirty="0">
                <a:solidFill>
                  <a:schemeClr val="accent1"/>
                </a:solidFill>
                <a:latin typeface="Bricolage Grotesque" pitchFamily="34" charset="0"/>
                <a:ea typeface="Bricolage Grotesque" pitchFamily="34" charset="-122"/>
                <a:cs typeface="Bricolage Grotesque" pitchFamily="34" charset="-120"/>
              </a:rPr>
              <a:t>56%</a:t>
            </a:r>
            <a:endParaRPr lang="en-US" sz="2800" dirty="0"/>
          </a:p>
        </p:txBody>
      </p:sp>
      <p:sp>
        <p:nvSpPr>
          <p:cNvPr id="13" name="Text 10"/>
          <p:cNvSpPr txBox="1"/>
          <p:nvPr/>
        </p:nvSpPr>
        <p:spPr>
          <a:xfrm>
            <a:off x="6995160" y="3611880"/>
            <a:ext cx="2011680" cy="64008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of suppliers had a backup ready</a:t>
            </a:r>
            <a:endParaRPr lang="en-US" sz="1100" dirty="0"/>
          </a:p>
        </p:txBody>
      </p:sp>
      <p:sp>
        <p:nvSpPr>
          <p:cNvPr id="14" name="stat 3"/>
          <p:cNvSpPr/>
          <p:nvPr/>
        </p:nvSpPr>
        <p:spPr>
          <a:xfrm>
            <a:off x="9281160" y="2926080"/>
            <a:ext cx="2331720" cy="1417320"/>
          </a:xfrm>
          <a:prstGeom prst="roundRect">
            <a:avLst>
              <a:gd name="adj" fmla="val 9032"/>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5" name="Text 12"/>
          <p:cNvSpPr txBox="1"/>
          <p:nvPr/>
        </p:nvSpPr>
        <p:spPr>
          <a:xfrm>
            <a:off x="9464040" y="3063240"/>
            <a:ext cx="2011680" cy="548640"/>
          </a:xfrm>
          <a:prstGeom prst="rect">
            <a:avLst/>
          </a:prstGeom>
          <a:noFill/>
          <a:ln/>
        </p:spPr>
        <p:txBody>
          <a:bodyPr wrap="square" lIns="0" tIns="0" rIns="0" bIns="0" rtlCol="0" anchor="ctr"/>
          <a:lstStyle/>
          <a:p>
            <a:pPr marL="0" indent="0">
              <a:buNone/>
            </a:pPr>
            <a:r>
              <a:rPr lang="en-US" sz="2800" b="1" dirty="0">
                <a:solidFill>
                  <a:schemeClr val="accent1"/>
                </a:solidFill>
                <a:latin typeface="Bricolage Grotesque" pitchFamily="34" charset="0"/>
                <a:ea typeface="Bricolage Grotesque" pitchFamily="34" charset="-122"/>
                <a:cs typeface="Bricolage Grotesque" pitchFamily="34" charset="-120"/>
              </a:rPr>
              <a:t>24%</a:t>
            </a:r>
            <a:endParaRPr lang="en-US" sz="2800" dirty="0"/>
          </a:p>
        </p:txBody>
      </p:sp>
      <p:sp>
        <p:nvSpPr>
          <p:cNvPr id="16" name="Text 13"/>
          <p:cNvSpPr txBox="1"/>
          <p:nvPr/>
        </p:nvSpPr>
        <p:spPr>
          <a:xfrm>
            <a:off x="9464040" y="3611880"/>
            <a:ext cx="2011680" cy="64008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ended with a permanent supplier change</a:t>
            </a:r>
            <a:endParaRPr lang="en-US" sz="1100" dirty="0"/>
          </a:p>
        </p:txBody>
      </p:sp>
      <p:sp>
        <p:nvSpPr>
          <p:cNvPr id="17" name="narrative card"/>
          <p:cNvSpPr/>
          <p:nvPr/>
        </p:nvSpPr>
        <p:spPr>
          <a:xfrm>
            <a:off x="6812280" y="4572000"/>
            <a:ext cx="4800600" cy="1600200"/>
          </a:xfrm>
          <a:prstGeom prst="roundRect">
            <a:avLst>
              <a:gd name="adj" fmla="val 8000"/>
            </a:avLst>
          </a:prstGeom>
          <a:solidFill>
            <a:srgbClr val="E4EFF4"/>
          </a:solidFill>
          <a:ln w="9525">
            <a:solidFill>
              <a:srgbClr val="DCE3E8"/>
            </a:solidFill>
            <a:prstDash val="solid"/>
          </a:ln>
          <a:effectLst>
            <a:outerShdw blurRad="127000" dist="25400" dir="5400000" algn="bl" rotWithShape="0">
              <a:srgbClr val="0F1F2E">
                <a:alpha val="10000"/>
              </a:srgbClr>
            </a:outerShdw>
          </a:effectLst>
        </p:spPr>
      </p:sp>
      <p:sp>
        <p:nvSpPr>
          <p:cNvPr id="18" name="Text 15"/>
          <p:cNvSpPr txBox="1"/>
          <p:nvPr/>
        </p:nvSpPr>
        <p:spPr>
          <a:xfrm>
            <a:off x="6995160" y="4663440"/>
            <a:ext cx="4480560" cy="365760"/>
          </a:xfrm>
          <a:prstGeom prst="rect">
            <a:avLst/>
          </a:prstGeom>
          <a:noFill/>
          <a:ln/>
        </p:spPr>
        <p:txBody>
          <a:bodyPr wrap="square" lIns="0" tIns="0" rIns="0" bIns="0" rtlCol="0" anchor="ctr"/>
          <a:lstStyle/>
          <a:p>
            <a:pPr marL="0" indent="0">
              <a:buNone/>
            </a:pPr>
            <a:r>
              <a:rPr lang="en-US" sz="1300" b="1" dirty="0">
                <a:solidFill>
                  <a:schemeClr val="accent1"/>
                </a:solidFill>
                <a:latin typeface="Instrument Sans" pitchFamily="34" charset="0"/>
                <a:ea typeface="Instrument Sans" pitchFamily="34" charset="-122"/>
                <a:cs typeface="Instrument Sans" pitchFamily="34" charset="-120"/>
              </a:rPr>
              <a:t>Each record becomes one narrative chunk</a:t>
            </a:r>
            <a:endParaRPr lang="en-US" sz="1300" dirty="0"/>
          </a:p>
        </p:txBody>
      </p:sp>
      <p:sp>
        <p:nvSpPr>
          <p:cNvPr id="19" name="Text 16"/>
          <p:cNvSpPr txBox="1"/>
          <p:nvPr/>
        </p:nvSpPr>
        <p:spPr>
          <a:xfrm>
            <a:off x="6995160" y="5029200"/>
            <a:ext cx="4480560" cy="1051560"/>
          </a:xfrm>
          <a:prstGeom prst="rect">
            <a:avLst/>
          </a:prstGeom>
          <a:noFill/>
          <a:ln/>
        </p:spPr>
        <p:txBody>
          <a:bodyPr wrap="square" lIns="0" tIns="0" rIns="0" bIns="0" rtlCol="0" anchor="t"/>
          <a:lstStyle/>
          <a:p>
            <a:pPr marL="0" indent="0">
              <a:buNone/>
            </a:pPr>
            <a:r>
              <a:rPr lang="en-US" sz="1100" i="1" dirty="0">
                <a:solidFill>
                  <a:schemeClr val="tx1"/>
                </a:solidFill>
                <a:latin typeface="Instrument Sans" pitchFamily="34" charset="0"/>
                <a:ea typeface="Instrument Sans" pitchFamily="34" charset="-122"/>
                <a:cs typeface="Instrument Sans" pitchFamily="34" charset="-120"/>
              </a:rPr>
              <a:t>“Moderate severity 2 Factory Incident (plant fire, explosion, equipment breakdown…) affecting a Tier-1 Pharmaceuticals supplier in Asia-Pacific with no backup supplier. Production dropped 54.3%…”</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Bricolage Grotesque" pitchFamily="34" charset="0"/>
                <a:ea typeface="Bricolage Grotesque" pitchFamily="34" charset="-122"/>
                <a:cs typeface="Bricolage Grotesque" pitchFamily="34" charset="-120"/>
              </a:rPr>
              <a:t>Architecture</a:t>
            </a:r>
            <a:endParaRPr lang="en-US" sz="3200" dirty="0"/>
          </a:p>
        </p:txBody>
      </p:sp>
      <p:sp>
        <p:nvSpPr>
          <p:cNvPr id="3" name="diagram card"/>
          <p:cNvSpPr/>
          <p:nvPr/>
        </p:nvSpPr>
        <p:spPr>
          <a:xfrm>
            <a:off x="548640" y="1234440"/>
            <a:ext cx="11064240" cy="4983480"/>
          </a:xfrm>
          <a:prstGeom prst="roundRect">
            <a:avLst>
              <a:gd name="adj" fmla="val 256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pic>
        <p:nvPicPr>
          <p:cNvPr id="4" name="architecture diagram" descr="System architecture: UI, FastAPI gateway, six LangGraph agents, retriever, ML models, feedback loop, offline build lane"/>
          <p:cNvPicPr>
            <a:picLocks noChangeAspect="1"/>
          </p:cNvPicPr>
          <p:nvPr/>
        </p:nvPicPr>
        <p:blipFill>
          <a:blip r:embed="rId3"/>
          <a:stretch>
            <a:fillRect/>
          </a:stretch>
        </p:blipFill>
        <p:spPr>
          <a:xfrm>
            <a:off x="1097280" y="1306895"/>
            <a:ext cx="9966960" cy="483857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Bricolage Grotesque" pitchFamily="34" charset="0"/>
                <a:ea typeface="Bricolage Grotesque" pitchFamily="34" charset="-122"/>
                <a:cs typeface="Bricolage Grotesque" pitchFamily="34" charset="-120"/>
              </a:rPr>
              <a:t>Data flow: from CSV to answer</a:t>
            </a:r>
            <a:endParaRPr lang="en-US" sz="3200" dirty="0"/>
          </a:p>
        </p:txBody>
      </p:sp>
      <p:sp>
        <p:nvSpPr>
          <p:cNvPr id="3" name="Text 1"/>
          <p:cNvSpPr txBox="1"/>
          <p:nvPr/>
        </p:nvSpPr>
        <p:spPr>
          <a:xfrm>
            <a:off x="548640" y="1371600"/>
            <a:ext cx="2743200" cy="274320"/>
          </a:xfrm>
          <a:prstGeom prst="rect">
            <a:avLst/>
          </a:prstGeom>
          <a:noFill/>
          <a:ln/>
        </p:spPr>
        <p:txBody>
          <a:bodyPr wrap="square" lIns="0" tIns="0" rIns="0" bIns="0" rtlCol="0" anchor="ctr"/>
          <a:lstStyle/>
          <a:p>
            <a:pPr marL="0" indent="0">
              <a:buNone/>
            </a:pPr>
            <a:r>
              <a:rPr lang="en-US" sz="1100" b="1" kern="0" spc="100" dirty="0">
                <a:solidFill>
                  <a:srgbClr val="5C6E7C"/>
                </a:solidFill>
                <a:latin typeface="Instrument Sans" pitchFamily="34" charset="0"/>
                <a:ea typeface="Instrument Sans" pitchFamily="34" charset="-122"/>
                <a:cs typeface="Instrument Sans" pitchFamily="34" charset="-120"/>
              </a:rPr>
              <a:t>BUILT ONCE</a:t>
            </a:r>
            <a:endParaRPr lang="en-US" sz="1100" dirty="0"/>
          </a:p>
        </p:txBody>
      </p:sp>
      <p:sp>
        <p:nvSpPr>
          <p:cNvPr id="4" name="BUILT ONCE step 0"/>
          <p:cNvSpPr/>
          <p:nvPr/>
        </p:nvSpPr>
        <p:spPr>
          <a:xfrm>
            <a:off x="548640" y="1737360"/>
            <a:ext cx="1920240" cy="960120"/>
          </a:xfrm>
          <a:prstGeom prst="roundRect">
            <a:avLst>
              <a:gd name="adj" fmla="val 133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5" name="Text 3"/>
          <p:cNvSpPr txBox="1"/>
          <p:nvPr/>
        </p:nvSpPr>
        <p:spPr>
          <a:xfrm>
            <a:off x="685800" y="1828800"/>
            <a:ext cx="164592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Instrument Sans" pitchFamily="34" charset="0"/>
                <a:ea typeface="Instrument Sans" pitchFamily="34" charset="-122"/>
                <a:cs typeface="Instrument Sans" pitchFamily="34" charset="-120"/>
              </a:rPr>
              <a:t>Dataset</a:t>
            </a:r>
            <a:endParaRPr lang="en-US" sz="1500" dirty="0"/>
          </a:p>
        </p:txBody>
      </p:sp>
      <p:sp>
        <p:nvSpPr>
          <p:cNvPr id="6" name="Text 4"/>
          <p:cNvSpPr txBox="1"/>
          <p:nvPr/>
        </p:nvSpPr>
        <p:spPr>
          <a:xfrm>
            <a:off x="640080" y="2194560"/>
            <a:ext cx="1737360" cy="365760"/>
          </a:xfrm>
          <a:prstGeom prst="rect">
            <a:avLst/>
          </a:prstGeom>
          <a:noFill/>
          <a:ln/>
        </p:spPr>
        <p:txBody>
          <a:bodyPr wrap="square" lIns="0" tIns="0" rIns="0" bIns="0" rtlCol="0" anchor="ctr"/>
          <a:lstStyle/>
          <a:p>
            <a:pPr marL="0" indent="0" algn="ctr">
              <a:buNone/>
            </a:pPr>
            <a:r>
              <a:rPr lang="en-US" sz="1100" dirty="0">
                <a:solidFill>
                  <a:schemeClr val="accent6"/>
                </a:solidFill>
                <a:latin typeface="Instrument Sans" pitchFamily="34" charset="0"/>
                <a:ea typeface="Instrument Sans" pitchFamily="34" charset="-122"/>
                <a:cs typeface="Instrument Sans" pitchFamily="34" charset="-120"/>
              </a:rPr>
              <a:t>100k rows</a:t>
            </a:r>
            <a:endParaRPr lang="en-US" sz="1100" dirty="0"/>
          </a:p>
        </p:txBody>
      </p:sp>
      <p:sp>
        <p:nvSpPr>
          <p:cNvPr id="7" name="BUILT ONCE step 1"/>
          <p:cNvSpPr/>
          <p:nvPr/>
        </p:nvSpPr>
        <p:spPr>
          <a:xfrm>
            <a:off x="2834640" y="1737360"/>
            <a:ext cx="1920240" cy="960120"/>
          </a:xfrm>
          <a:prstGeom prst="roundRect">
            <a:avLst>
              <a:gd name="adj" fmla="val 133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8" name="Text 6"/>
          <p:cNvSpPr txBox="1"/>
          <p:nvPr/>
        </p:nvSpPr>
        <p:spPr>
          <a:xfrm>
            <a:off x="2971800" y="1828800"/>
            <a:ext cx="164592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Instrument Sans" pitchFamily="34" charset="0"/>
                <a:ea typeface="Instrument Sans" pitchFamily="34" charset="-122"/>
                <a:cs typeface="Instrument Sans" pitchFamily="34" charset="-120"/>
              </a:rPr>
              <a:t>Preprocess</a:t>
            </a:r>
            <a:endParaRPr lang="en-US" sz="1500" dirty="0"/>
          </a:p>
        </p:txBody>
      </p:sp>
      <p:sp>
        <p:nvSpPr>
          <p:cNvPr id="9" name="Text 7"/>
          <p:cNvSpPr txBox="1"/>
          <p:nvPr/>
        </p:nvSpPr>
        <p:spPr>
          <a:xfrm>
            <a:off x="2926080" y="2194560"/>
            <a:ext cx="1737360" cy="365760"/>
          </a:xfrm>
          <a:prstGeom prst="rect">
            <a:avLst/>
          </a:prstGeom>
          <a:noFill/>
          <a:ln/>
        </p:spPr>
        <p:txBody>
          <a:bodyPr wrap="square" lIns="0" tIns="0" rIns="0" bIns="0" rtlCol="0" anchor="ctr"/>
          <a:lstStyle/>
          <a:p>
            <a:pPr marL="0" indent="0" algn="ctr">
              <a:buNone/>
            </a:pPr>
            <a:r>
              <a:rPr lang="en-US" sz="1100" dirty="0">
                <a:solidFill>
                  <a:schemeClr val="accent6"/>
                </a:solidFill>
                <a:latin typeface="Instrument Sans" pitchFamily="34" charset="0"/>
                <a:ea typeface="Instrument Sans" pitchFamily="34" charset="-122"/>
                <a:cs typeface="Instrument Sans" pitchFamily="34" charset="-120"/>
              </a:rPr>
              <a:t>clean · derive</a:t>
            </a:r>
            <a:endParaRPr lang="en-US" sz="1100" dirty="0"/>
          </a:p>
        </p:txBody>
      </p:sp>
      <p:sp>
        <p:nvSpPr>
          <p:cNvPr id="10" name="BUILT ONCE arrow 1"/>
          <p:cNvSpPr/>
          <p:nvPr/>
        </p:nvSpPr>
        <p:spPr>
          <a:xfrm>
            <a:off x="2487168" y="2212848"/>
            <a:ext cx="310896" cy="0"/>
          </a:xfrm>
          <a:prstGeom prst="line">
            <a:avLst/>
          </a:prstGeom>
          <a:noFill/>
          <a:ln w="22225">
            <a:solidFill>
              <a:srgbClr val="5C6E7C"/>
            </a:solidFill>
            <a:prstDash val="solid"/>
            <a:tailEnd type="triangle"/>
          </a:ln>
        </p:spPr>
      </p:sp>
      <p:sp>
        <p:nvSpPr>
          <p:cNvPr id="11" name="BUILT ONCE step 2"/>
          <p:cNvSpPr/>
          <p:nvPr/>
        </p:nvSpPr>
        <p:spPr>
          <a:xfrm>
            <a:off x="5120640" y="1737360"/>
            <a:ext cx="1920240" cy="960120"/>
          </a:xfrm>
          <a:prstGeom prst="roundRect">
            <a:avLst>
              <a:gd name="adj" fmla="val 133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2" name="Text 10"/>
          <p:cNvSpPr txBox="1"/>
          <p:nvPr/>
        </p:nvSpPr>
        <p:spPr>
          <a:xfrm>
            <a:off x="5257800" y="1828800"/>
            <a:ext cx="164592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Instrument Sans" pitchFamily="34" charset="0"/>
                <a:ea typeface="Instrument Sans" pitchFamily="34" charset="-122"/>
                <a:cs typeface="Instrument Sans" pitchFamily="34" charset="-120"/>
              </a:rPr>
              <a:t>Chunk</a:t>
            </a:r>
            <a:endParaRPr lang="en-US" sz="1500" dirty="0"/>
          </a:p>
        </p:txBody>
      </p:sp>
      <p:sp>
        <p:nvSpPr>
          <p:cNvPr id="13" name="Text 11"/>
          <p:cNvSpPr txBox="1"/>
          <p:nvPr/>
        </p:nvSpPr>
        <p:spPr>
          <a:xfrm>
            <a:off x="5212080" y="2194560"/>
            <a:ext cx="1737360" cy="365760"/>
          </a:xfrm>
          <a:prstGeom prst="rect">
            <a:avLst/>
          </a:prstGeom>
          <a:noFill/>
          <a:ln/>
        </p:spPr>
        <p:txBody>
          <a:bodyPr wrap="square" lIns="0" tIns="0" rIns="0" bIns="0" rtlCol="0" anchor="ctr"/>
          <a:lstStyle/>
          <a:p>
            <a:pPr marL="0" indent="0" algn="ctr">
              <a:buNone/>
            </a:pPr>
            <a:r>
              <a:rPr lang="en-US" sz="1100" dirty="0">
                <a:solidFill>
                  <a:schemeClr val="accent6"/>
                </a:solidFill>
                <a:latin typeface="Instrument Sans" pitchFamily="34" charset="0"/>
                <a:ea typeface="Instrument Sans" pitchFamily="34" charset="-122"/>
                <a:cs typeface="Instrument Sans" pitchFamily="34" charset="-120"/>
              </a:rPr>
              <a:t>1 record = 1 narrative</a:t>
            </a:r>
            <a:endParaRPr lang="en-US" sz="1100" dirty="0"/>
          </a:p>
        </p:txBody>
      </p:sp>
      <p:sp>
        <p:nvSpPr>
          <p:cNvPr id="14" name="BUILT ONCE arrow 2"/>
          <p:cNvSpPr/>
          <p:nvPr/>
        </p:nvSpPr>
        <p:spPr>
          <a:xfrm>
            <a:off x="4773168" y="2212848"/>
            <a:ext cx="310896" cy="0"/>
          </a:xfrm>
          <a:prstGeom prst="line">
            <a:avLst/>
          </a:prstGeom>
          <a:noFill/>
          <a:ln w="22225">
            <a:solidFill>
              <a:srgbClr val="5C6E7C"/>
            </a:solidFill>
            <a:prstDash val="solid"/>
            <a:tailEnd type="triangle"/>
          </a:ln>
        </p:spPr>
      </p:sp>
      <p:sp>
        <p:nvSpPr>
          <p:cNvPr id="15" name="BUILT ONCE step 3"/>
          <p:cNvSpPr/>
          <p:nvPr/>
        </p:nvSpPr>
        <p:spPr>
          <a:xfrm>
            <a:off x="7406640" y="1737360"/>
            <a:ext cx="1920240" cy="960120"/>
          </a:xfrm>
          <a:prstGeom prst="roundRect">
            <a:avLst>
              <a:gd name="adj" fmla="val 133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6" name="Text 14"/>
          <p:cNvSpPr txBox="1"/>
          <p:nvPr/>
        </p:nvSpPr>
        <p:spPr>
          <a:xfrm>
            <a:off x="7543800" y="1828800"/>
            <a:ext cx="164592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Instrument Sans" pitchFamily="34" charset="0"/>
                <a:ea typeface="Instrument Sans" pitchFamily="34" charset="-122"/>
                <a:cs typeface="Instrument Sans" pitchFamily="34" charset="-120"/>
              </a:rPr>
              <a:t>Embed</a:t>
            </a:r>
            <a:endParaRPr lang="en-US" sz="1500" dirty="0"/>
          </a:p>
        </p:txBody>
      </p:sp>
      <p:sp>
        <p:nvSpPr>
          <p:cNvPr id="17" name="Text 15"/>
          <p:cNvSpPr txBox="1"/>
          <p:nvPr/>
        </p:nvSpPr>
        <p:spPr>
          <a:xfrm>
            <a:off x="7498080" y="2194560"/>
            <a:ext cx="1737360" cy="365760"/>
          </a:xfrm>
          <a:prstGeom prst="rect">
            <a:avLst/>
          </a:prstGeom>
          <a:noFill/>
          <a:ln/>
        </p:spPr>
        <p:txBody>
          <a:bodyPr wrap="square" lIns="0" tIns="0" rIns="0" bIns="0" rtlCol="0" anchor="ctr"/>
          <a:lstStyle/>
          <a:p>
            <a:pPr marL="0" indent="0" algn="ctr">
              <a:buNone/>
            </a:pPr>
            <a:r>
              <a:rPr lang="en-US" sz="1100" dirty="0">
                <a:solidFill>
                  <a:schemeClr val="accent6"/>
                </a:solidFill>
                <a:latin typeface="Instrument Sans" pitchFamily="34" charset="0"/>
                <a:ea typeface="Instrument Sans" pitchFamily="34" charset="-122"/>
                <a:cs typeface="Instrument Sans" pitchFamily="34" charset="-120"/>
              </a:rPr>
              <a:t>MiniLM, 384-dim</a:t>
            </a:r>
            <a:endParaRPr lang="en-US" sz="1100" dirty="0"/>
          </a:p>
        </p:txBody>
      </p:sp>
      <p:sp>
        <p:nvSpPr>
          <p:cNvPr id="18" name="BUILT ONCE arrow 3"/>
          <p:cNvSpPr/>
          <p:nvPr/>
        </p:nvSpPr>
        <p:spPr>
          <a:xfrm>
            <a:off x="7059168" y="2212848"/>
            <a:ext cx="310896" cy="0"/>
          </a:xfrm>
          <a:prstGeom prst="line">
            <a:avLst/>
          </a:prstGeom>
          <a:noFill/>
          <a:ln w="22225">
            <a:solidFill>
              <a:srgbClr val="5C6E7C"/>
            </a:solidFill>
            <a:prstDash val="solid"/>
            <a:tailEnd type="triangle"/>
          </a:ln>
        </p:spPr>
      </p:sp>
      <p:sp>
        <p:nvSpPr>
          <p:cNvPr id="19" name="BUILT ONCE step 4"/>
          <p:cNvSpPr/>
          <p:nvPr/>
        </p:nvSpPr>
        <p:spPr>
          <a:xfrm>
            <a:off x="9692640" y="1737360"/>
            <a:ext cx="1920240" cy="960120"/>
          </a:xfrm>
          <a:prstGeom prst="roundRect">
            <a:avLst>
              <a:gd name="adj" fmla="val 133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0" name="Text 18"/>
          <p:cNvSpPr txBox="1"/>
          <p:nvPr/>
        </p:nvSpPr>
        <p:spPr>
          <a:xfrm>
            <a:off x="9829800" y="1828800"/>
            <a:ext cx="164592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Instrument Sans" pitchFamily="34" charset="0"/>
                <a:ea typeface="Instrument Sans" pitchFamily="34" charset="-122"/>
                <a:cs typeface="Instrument Sans" pitchFamily="34" charset="-120"/>
              </a:rPr>
              <a:t>Index</a:t>
            </a:r>
            <a:endParaRPr lang="en-US" sz="1500" dirty="0"/>
          </a:p>
        </p:txBody>
      </p:sp>
      <p:sp>
        <p:nvSpPr>
          <p:cNvPr id="21" name="Text 19"/>
          <p:cNvSpPr txBox="1"/>
          <p:nvPr/>
        </p:nvSpPr>
        <p:spPr>
          <a:xfrm>
            <a:off x="9784080" y="2194560"/>
            <a:ext cx="1737360" cy="365760"/>
          </a:xfrm>
          <a:prstGeom prst="rect">
            <a:avLst/>
          </a:prstGeom>
          <a:noFill/>
          <a:ln/>
        </p:spPr>
        <p:txBody>
          <a:bodyPr wrap="square" lIns="0" tIns="0" rIns="0" bIns="0" rtlCol="0" anchor="ctr"/>
          <a:lstStyle/>
          <a:p>
            <a:pPr marL="0" indent="0" algn="ctr">
              <a:buNone/>
            </a:pPr>
            <a:r>
              <a:rPr lang="en-US" sz="1100" dirty="0">
                <a:solidFill>
                  <a:schemeClr val="accent6"/>
                </a:solidFill>
                <a:latin typeface="Instrument Sans" pitchFamily="34" charset="0"/>
                <a:ea typeface="Instrument Sans" pitchFamily="34" charset="-122"/>
                <a:cs typeface="Instrument Sans" pitchFamily="34" charset="-120"/>
              </a:rPr>
              <a:t>ChromaDB + BM25</a:t>
            </a:r>
            <a:endParaRPr lang="en-US" sz="1100" dirty="0"/>
          </a:p>
        </p:txBody>
      </p:sp>
      <p:sp>
        <p:nvSpPr>
          <p:cNvPr id="22" name="BUILT ONCE arrow 4"/>
          <p:cNvSpPr/>
          <p:nvPr/>
        </p:nvSpPr>
        <p:spPr>
          <a:xfrm>
            <a:off x="9345168" y="2212848"/>
            <a:ext cx="310896" cy="0"/>
          </a:xfrm>
          <a:prstGeom prst="line">
            <a:avLst/>
          </a:prstGeom>
          <a:noFill/>
          <a:ln w="22225">
            <a:solidFill>
              <a:srgbClr val="5C6E7C"/>
            </a:solidFill>
            <a:prstDash val="solid"/>
            <a:tailEnd type="triangle"/>
          </a:ln>
        </p:spPr>
      </p:sp>
      <p:sp>
        <p:nvSpPr>
          <p:cNvPr id="23" name="Text 21"/>
          <p:cNvSpPr txBox="1"/>
          <p:nvPr/>
        </p:nvSpPr>
        <p:spPr>
          <a:xfrm>
            <a:off x="548640" y="3017520"/>
            <a:ext cx="2743200" cy="274320"/>
          </a:xfrm>
          <a:prstGeom prst="rect">
            <a:avLst/>
          </a:prstGeom>
          <a:noFill/>
          <a:ln/>
        </p:spPr>
        <p:txBody>
          <a:bodyPr wrap="square" lIns="0" tIns="0" rIns="0" bIns="0" rtlCol="0" anchor="ctr"/>
          <a:lstStyle/>
          <a:p>
            <a:pPr marL="0" indent="0">
              <a:buNone/>
            </a:pPr>
            <a:r>
              <a:rPr lang="en-US" sz="1100" b="1" kern="0" spc="100" dirty="0">
                <a:solidFill>
                  <a:srgbClr val="14506B"/>
                </a:solidFill>
                <a:latin typeface="Instrument Sans" pitchFamily="34" charset="0"/>
                <a:ea typeface="Instrument Sans" pitchFamily="34" charset="-122"/>
                <a:cs typeface="Instrument Sans" pitchFamily="34" charset="-120"/>
              </a:rPr>
              <a:t>EVERY QUESTION</a:t>
            </a:r>
            <a:endParaRPr lang="en-US" sz="1100" dirty="0"/>
          </a:p>
        </p:txBody>
      </p:sp>
      <p:sp>
        <p:nvSpPr>
          <p:cNvPr id="24" name="EVERY QUESTION step 0"/>
          <p:cNvSpPr/>
          <p:nvPr/>
        </p:nvSpPr>
        <p:spPr>
          <a:xfrm>
            <a:off x="548640" y="3383280"/>
            <a:ext cx="1920240" cy="960120"/>
          </a:xfrm>
          <a:prstGeom prst="roundRect">
            <a:avLst>
              <a:gd name="adj" fmla="val 133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5" name="Text 23"/>
          <p:cNvSpPr txBox="1"/>
          <p:nvPr/>
        </p:nvSpPr>
        <p:spPr>
          <a:xfrm>
            <a:off x="685800" y="3474720"/>
            <a:ext cx="164592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Instrument Sans" pitchFamily="34" charset="0"/>
                <a:ea typeface="Instrument Sans" pitchFamily="34" charset="-122"/>
                <a:cs typeface="Instrument Sans" pitchFamily="34" charset="-120"/>
              </a:rPr>
              <a:t>Question</a:t>
            </a:r>
            <a:endParaRPr lang="en-US" sz="1500" dirty="0"/>
          </a:p>
        </p:txBody>
      </p:sp>
      <p:sp>
        <p:nvSpPr>
          <p:cNvPr id="26" name="Text 24"/>
          <p:cNvSpPr txBox="1"/>
          <p:nvPr/>
        </p:nvSpPr>
        <p:spPr>
          <a:xfrm>
            <a:off x="640080" y="3840480"/>
            <a:ext cx="1737360" cy="365760"/>
          </a:xfrm>
          <a:prstGeom prst="rect">
            <a:avLst/>
          </a:prstGeom>
          <a:noFill/>
          <a:ln/>
        </p:spPr>
        <p:txBody>
          <a:bodyPr wrap="square" lIns="0" tIns="0" rIns="0" bIns="0" rtlCol="0" anchor="ctr"/>
          <a:lstStyle/>
          <a:p>
            <a:pPr marL="0" indent="0" algn="ctr">
              <a:buNone/>
            </a:pPr>
            <a:r>
              <a:rPr lang="en-US" sz="1100" dirty="0">
                <a:solidFill>
                  <a:schemeClr val="accent6"/>
                </a:solidFill>
                <a:latin typeface="Instrument Sans" pitchFamily="34" charset="0"/>
                <a:ea typeface="Instrument Sans" pitchFamily="34" charset="-122"/>
                <a:cs typeface="Instrument Sans" pitchFamily="34" charset="-120"/>
              </a:rPr>
              <a:t>plain English</a:t>
            </a:r>
            <a:endParaRPr lang="en-US" sz="1100" dirty="0"/>
          </a:p>
        </p:txBody>
      </p:sp>
      <p:sp>
        <p:nvSpPr>
          <p:cNvPr id="27" name="EVERY QUESTION step 1"/>
          <p:cNvSpPr/>
          <p:nvPr/>
        </p:nvSpPr>
        <p:spPr>
          <a:xfrm>
            <a:off x="2834640" y="3383280"/>
            <a:ext cx="1920240" cy="960120"/>
          </a:xfrm>
          <a:prstGeom prst="roundRect">
            <a:avLst>
              <a:gd name="adj" fmla="val 133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8" name="Text 26"/>
          <p:cNvSpPr txBox="1"/>
          <p:nvPr/>
        </p:nvSpPr>
        <p:spPr>
          <a:xfrm>
            <a:off x="2971800" y="3474720"/>
            <a:ext cx="164592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Instrument Sans" pitchFamily="34" charset="0"/>
                <a:ea typeface="Instrument Sans" pitchFamily="34" charset="-122"/>
                <a:cs typeface="Instrument Sans" pitchFamily="34" charset="-120"/>
              </a:rPr>
              <a:t>Guardrails</a:t>
            </a:r>
            <a:endParaRPr lang="en-US" sz="1500" dirty="0"/>
          </a:p>
        </p:txBody>
      </p:sp>
      <p:sp>
        <p:nvSpPr>
          <p:cNvPr id="29" name="Text 27"/>
          <p:cNvSpPr txBox="1"/>
          <p:nvPr/>
        </p:nvSpPr>
        <p:spPr>
          <a:xfrm>
            <a:off x="2926080" y="3840480"/>
            <a:ext cx="1737360" cy="365760"/>
          </a:xfrm>
          <a:prstGeom prst="rect">
            <a:avLst/>
          </a:prstGeom>
          <a:noFill/>
          <a:ln/>
        </p:spPr>
        <p:txBody>
          <a:bodyPr wrap="square" lIns="0" tIns="0" rIns="0" bIns="0" rtlCol="0" anchor="ctr"/>
          <a:lstStyle/>
          <a:p>
            <a:pPr marL="0" indent="0" algn="ctr">
              <a:buNone/>
            </a:pPr>
            <a:r>
              <a:rPr lang="en-US" sz="1100" dirty="0">
                <a:solidFill>
                  <a:schemeClr val="accent6"/>
                </a:solidFill>
                <a:latin typeface="Instrument Sans" pitchFamily="34" charset="0"/>
                <a:ea typeface="Instrument Sans" pitchFamily="34" charset="-122"/>
                <a:cs typeface="Instrument Sans" pitchFamily="34" charset="-120"/>
              </a:rPr>
              <a:t>injection · PII · topic</a:t>
            </a:r>
            <a:endParaRPr lang="en-US" sz="1100" dirty="0"/>
          </a:p>
        </p:txBody>
      </p:sp>
      <p:sp>
        <p:nvSpPr>
          <p:cNvPr id="30" name="EVERY QUESTION arrow 1"/>
          <p:cNvSpPr/>
          <p:nvPr/>
        </p:nvSpPr>
        <p:spPr>
          <a:xfrm>
            <a:off x="2487168" y="3858768"/>
            <a:ext cx="310896" cy="0"/>
          </a:xfrm>
          <a:prstGeom prst="line">
            <a:avLst/>
          </a:prstGeom>
          <a:noFill/>
          <a:ln w="22225">
            <a:solidFill>
              <a:srgbClr val="14506B"/>
            </a:solidFill>
            <a:prstDash val="solid"/>
            <a:tailEnd type="triangle"/>
          </a:ln>
        </p:spPr>
      </p:sp>
      <p:sp>
        <p:nvSpPr>
          <p:cNvPr id="31" name="EVERY QUESTION step 2"/>
          <p:cNvSpPr/>
          <p:nvPr/>
        </p:nvSpPr>
        <p:spPr>
          <a:xfrm>
            <a:off x="5120640" y="3383280"/>
            <a:ext cx="1920240" cy="960120"/>
          </a:xfrm>
          <a:prstGeom prst="roundRect">
            <a:avLst>
              <a:gd name="adj" fmla="val 133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32" name="Text 30"/>
          <p:cNvSpPr txBox="1"/>
          <p:nvPr/>
        </p:nvSpPr>
        <p:spPr>
          <a:xfrm>
            <a:off x="5257800" y="3474720"/>
            <a:ext cx="164592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Instrument Sans" pitchFamily="34" charset="0"/>
                <a:ea typeface="Instrument Sans" pitchFamily="34" charset="-122"/>
                <a:cs typeface="Instrument Sans" pitchFamily="34" charset="-120"/>
              </a:rPr>
              <a:t>Classify</a:t>
            </a:r>
            <a:endParaRPr lang="en-US" sz="1500" dirty="0"/>
          </a:p>
        </p:txBody>
      </p:sp>
      <p:sp>
        <p:nvSpPr>
          <p:cNvPr id="33" name="Text 31"/>
          <p:cNvSpPr txBox="1"/>
          <p:nvPr/>
        </p:nvSpPr>
        <p:spPr>
          <a:xfrm>
            <a:off x="5212080" y="3840480"/>
            <a:ext cx="1737360" cy="365760"/>
          </a:xfrm>
          <a:prstGeom prst="rect">
            <a:avLst/>
          </a:prstGeom>
          <a:noFill/>
          <a:ln/>
        </p:spPr>
        <p:txBody>
          <a:bodyPr wrap="square" lIns="0" tIns="0" rIns="0" bIns="0" rtlCol="0" anchor="ctr"/>
          <a:lstStyle/>
          <a:p>
            <a:pPr marL="0" indent="0" algn="ctr">
              <a:buNone/>
            </a:pPr>
            <a:r>
              <a:rPr lang="en-US" sz="1100" dirty="0">
                <a:solidFill>
                  <a:schemeClr val="accent6"/>
                </a:solidFill>
                <a:latin typeface="Instrument Sans" pitchFamily="34" charset="0"/>
                <a:ea typeface="Instrument Sans" pitchFamily="34" charset="-122"/>
                <a:cs typeface="Instrument Sans" pitchFamily="34" charset="-120"/>
              </a:rPr>
              <a:t>type · severity · filters</a:t>
            </a:r>
            <a:endParaRPr lang="en-US" sz="1100" dirty="0"/>
          </a:p>
        </p:txBody>
      </p:sp>
      <p:sp>
        <p:nvSpPr>
          <p:cNvPr id="34" name="EVERY QUESTION arrow 2"/>
          <p:cNvSpPr/>
          <p:nvPr/>
        </p:nvSpPr>
        <p:spPr>
          <a:xfrm>
            <a:off x="4773168" y="3858768"/>
            <a:ext cx="310896" cy="0"/>
          </a:xfrm>
          <a:prstGeom prst="line">
            <a:avLst/>
          </a:prstGeom>
          <a:noFill/>
          <a:ln w="22225">
            <a:solidFill>
              <a:srgbClr val="14506B"/>
            </a:solidFill>
            <a:prstDash val="solid"/>
            <a:tailEnd type="triangle"/>
          </a:ln>
        </p:spPr>
      </p:sp>
      <p:sp>
        <p:nvSpPr>
          <p:cNvPr id="35" name="EVERY QUESTION step 3"/>
          <p:cNvSpPr/>
          <p:nvPr/>
        </p:nvSpPr>
        <p:spPr>
          <a:xfrm>
            <a:off x="7406640" y="3383280"/>
            <a:ext cx="1920240" cy="960120"/>
          </a:xfrm>
          <a:prstGeom prst="roundRect">
            <a:avLst>
              <a:gd name="adj" fmla="val 133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36" name="Text 34"/>
          <p:cNvSpPr txBox="1"/>
          <p:nvPr/>
        </p:nvSpPr>
        <p:spPr>
          <a:xfrm>
            <a:off x="7543800" y="3474720"/>
            <a:ext cx="164592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Instrument Sans" pitchFamily="34" charset="0"/>
                <a:ea typeface="Instrument Sans" pitchFamily="34" charset="-122"/>
                <a:cs typeface="Instrument Sans" pitchFamily="34" charset="-120"/>
              </a:rPr>
              <a:t>Hybrid search</a:t>
            </a:r>
            <a:endParaRPr lang="en-US" sz="1500" dirty="0"/>
          </a:p>
        </p:txBody>
      </p:sp>
      <p:sp>
        <p:nvSpPr>
          <p:cNvPr id="37" name="Text 35"/>
          <p:cNvSpPr txBox="1"/>
          <p:nvPr/>
        </p:nvSpPr>
        <p:spPr>
          <a:xfrm>
            <a:off x="7498080" y="3840480"/>
            <a:ext cx="1737360" cy="365760"/>
          </a:xfrm>
          <a:prstGeom prst="rect">
            <a:avLst/>
          </a:prstGeom>
          <a:noFill/>
          <a:ln/>
        </p:spPr>
        <p:txBody>
          <a:bodyPr wrap="square" lIns="0" tIns="0" rIns="0" bIns="0" rtlCol="0" anchor="ctr"/>
          <a:lstStyle/>
          <a:p>
            <a:pPr marL="0" indent="0" algn="ctr">
              <a:buNone/>
            </a:pPr>
            <a:r>
              <a:rPr lang="en-US" sz="1100" dirty="0">
                <a:solidFill>
                  <a:schemeClr val="accent6"/>
                </a:solidFill>
                <a:latin typeface="Instrument Sans" pitchFamily="34" charset="0"/>
                <a:ea typeface="Instrument Sans" pitchFamily="34" charset="-122"/>
                <a:cs typeface="Instrument Sans" pitchFamily="34" charset="-120"/>
              </a:rPr>
              <a:t>BM25 + vectors (RRF)</a:t>
            </a:r>
            <a:endParaRPr lang="en-US" sz="1100" dirty="0"/>
          </a:p>
        </p:txBody>
      </p:sp>
      <p:sp>
        <p:nvSpPr>
          <p:cNvPr id="38" name="EVERY QUESTION arrow 3"/>
          <p:cNvSpPr/>
          <p:nvPr/>
        </p:nvSpPr>
        <p:spPr>
          <a:xfrm>
            <a:off x="7059168" y="3858768"/>
            <a:ext cx="310896" cy="0"/>
          </a:xfrm>
          <a:prstGeom prst="line">
            <a:avLst/>
          </a:prstGeom>
          <a:noFill/>
          <a:ln w="22225">
            <a:solidFill>
              <a:srgbClr val="14506B"/>
            </a:solidFill>
            <a:prstDash val="solid"/>
            <a:tailEnd type="triangle"/>
          </a:ln>
        </p:spPr>
      </p:sp>
      <p:sp>
        <p:nvSpPr>
          <p:cNvPr id="39" name="EVERY QUESTION step 4"/>
          <p:cNvSpPr/>
          <p:nvPr/>
        </p:nvSpPr>
        <p:spPr>
          <a:xfrm>
            <a:off x="9692640" y="3383280"/>
            <a:ext cx="1920240" cy="960120"/>
          </a:xfrm>
          <a:prstGeom prst="roundRect">
            <a:avLst>
              <a:gd name="adj" fmla="val 133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0" name="Text 38"/>
          <p:cNvSpPr txBox="1"/>
          <p:nvPr/>
        </p:nvSpPr>
        <p:spPr>
          <a:xfrm>
            <a:off x="9829800" y="3474720"/>
            <a:ext cx="164592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Instrument Sans" pitchFamily="34" charset="0"/>
                <a:ea typeface="Instrument Sans" pitchFamily="34" charset="-122"/>
                <a:cs typeface="Instrument Sans" pitchFamily="34" charset="-120"/>
              </a:rPr>
              <a:t>Agents → report</a:t>
            </a:r>
            <a:endParaRPr lang="en-US" sz="1500" dirty="0"/>
          </a:p>
        </p:txBody>
      </p:sp>
      <p:sp>
        <p:nvSpPr>
          <p:cNvPr id="41" name="Text 39"/>
          <p:cNvSpPr txBox="1"/>
          <p:nvPr/>
        </p:nvSpPr>
        <p:spPr>
          <a:xfrm>
            <a:off x="9784080" y="3840480"/>
            <a:ext cx="1737360" cy="365760"/>
          </a:xfrm>
          <a:prstGeom prst="rect">
            <a:avLst/>
          </a:prstGeom>
          <a:noFill/>
          <a:ln/>
        </p:spPr>
        <p:txBody>
          <a:bodyPr wrap="square" lIns="0" tIns="0" rIns="0" bIns="0" rtlCol="0" anchor="ctr"/>
          <a:lstStyle/>
          <a:p>
            <a:pPr marL="0" indent="0" algn="ctr">
              <a:buNone/>
            </a:pPr>
            <a:r>
              <a:rPr lang="en-US" sz="1100" dirty="0">
                <a:solidFill>
                  <a:schemeClr val="accent6"/>
                </a:solidFill>
                <a:latin typeface="Instrument Sans" pitchFamily="34" charset="0"/>
                <a:ea typeface="Instrument Sans" pitchFamily="34" charset="-122"/>
                <a:cs typeface="Instrument Sans" pitchFamily="34" charset="-120"/>
              </a:rPr>
              <a:t>predict · plan · judge</a:t>
            </a:r>
            <a:endParaRPr lang="en-US" sz="1100" dirty="0"/>
          </a:p>
        </p:txBody>
      </p:sp>
      <p:sp>
        <p:nvSpPr>
          <p:cNvPr id="42" name="EVERY QUESTION arrow 4"/>
          <p:cNvSpPr/>
          <p:nvPr/>
        </p:nvSpPr>
        <p:spPr>
          <a:xfrm>
            <a:off x="9345168" y="3858768"/>
            <a:ext cx="310896" cy="0"/>
          </a:xfrm>
          <a:prstGeom prst="line">
            <a:avLst/>
          </a:prstGeom>
          <a:noFill/>
          <a:ln w="22225">
            <a:solidFill>
              <a:srgbClr val="14506B"/>
            </a:solidFill>
            <a:prstDash val="solid"/>
            <a:tailEnd type="triangle"/>
          </a:ln>
        </p:spPr>
      </p:sp>
      <p:sp>
        <p:nvSpPr>
          <p:cNvPr id="43" name="retrieval stat 0"/>
          <p:cNvSpPr/>
          <p:nvPr/>
        </p:nvSpPr>
        <p:spPr>
          <a:xfrm>
            <a:off x="548640" y="4754880"/>
            <a:ext cx="3520440" cy="1417320"/>
          </a:xfrm>
          <a:prstGeom prst="roundRect">
            <a:avLst>
              <a:gd name="adj" fmla="val 9032"/>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4" name="Text 42"/>
          <p:cNvSpPr txBox="1"/>
          <p:nvPr/>
        </p:nvSpPr>
        <p:spPr>
          <a:xfrm>
            <a:off x="777240" y="4864608"/>
            <a:ext cx="3108960" cy="548640"/>
          </a:xfrm>
          <a:prstGeom prst="rect">
            <a:avLst/>
          </a:prstGeom>
          <a:noFill/>
          <a:ln/>
        </p:spPr>
        <p:txBody>
          <a:bodyPr wrap="square" lIns="0" tIns="0" rIns="0" bIns="0" rtlCol="0" anchor="ctr"/>
          <a:lstStyle/>
          <a:p>
            <a:pPr marL="0" indent="0">
              <a:buNone/>
            </a:pPr>
            <a:r>
              <a:rPr lang="en-US" sz="2800" b="1" dirty="0">
                <a:solidFill>
                  <a:schemeClr val="accent2"/>
                </a:solidFill>
                <a:latin typeface="Bricolage Grotesque" pitchFamily="34" charset="0"/>
                <a:ea typeface="Bricolage Grotesque" pitchFamily="34" charset="-122"/>
                <a:cs typeface="Bricolage Grotesque" pitchFamily="34" charset="-120"/>
              </a:rPr>
              <a:t>0.83</a:t>
            </a:r>
            <a:endParaRPr lang="en-US" sz="2800" dirty="0"/>
          </a:p>
        </p:txBody>
      </p:sp>
      <p:sp>
        <p:nvSpPr>
          <p:cNvPr id="45" name="Text 43"/>
          <p:cNvSpPr txBox="1"/>
          <p:nvPr/>
        </p:nvSpPr>
        <p:spPr>
          <a:xfrm>
            <a:off x="777240" y="5413248"/>
            <a:ext cx="3108960" cy="640080"/>
          </a:xfrm>
          <a:prstGeom prst="rect">
            <a:avLst/>
          </a:prstGeom>
          <a:noFill/>
          <a:ln/>
        </p:spPr>
        <p:txBody>
          <a:bodyPr wrap="square" lIns="0" tIns="0" rIns="0" bIns="0" rtlCol="0" anchor="t"/>
          <a:lstStyle/>
          <a:p>
            <a:pPr marL="0" indent="0">
              <a:buNone/>
            </a:pPr>
            <a:r>
              <a:rPr lang="en-US" sz="1200" dirty="0">
                <a:solidFill>
                  <a:schemeClr val="accent6"/>
                </a:solidFill>
                <a:latin typeface="Instrument Sans" pitchFamily="34" charset="0"/>
                <a:ea typeface="Instrument Sans" pitchFamily="34" charset="-122"/>
                <a:cs typeface="Instrument Sans" pitchFamily="34" charset="-120"/>
              </a:rPr>
              <a:t>Precision@10 on 180 everyday searches (same type and industry)</a:t>
            </a:r>
            <a:endParaRPr lang="en-US" sz="1200" dirty="0"/>
          </a:p>
        </p:txBody>
      </p:sp>
      <p:sp>
        <p:nvSpPr>
          <p:cNvPr id="46" name="retrieval stat 1"/>
          <p:cNvSpPr/>
          <p:nvPr/>
        </p:nvSpPr>
        <p:spPr>
          <a:xfrm>
            <a:off x="4297680" y="4754880"/>
            <a:ext cx="3520440" cy="1417320"/>
          </a:xfrm>
          <a:prstGeom prst="roundRect">
            <a:avLst>
              <a:gd name="adj" fmla="val 9032"/>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7" name="Text 45"/>
          <p:cNvSpPr txBox="1"/>
          <p:nvPr/>
        </p:nvSpPr>
        <p:spPr>
          <a:xfrm>
            <a:off x="4526280" y="4864608"/>
            <a:ext cx="3108960" cy="548640"/>
          </a:xfrm>
          <a:prstGeom prst="rect">
            <a:avLst/>
          </a:prstGeom>
          <a:noFill/>
          <a:ln/>
        </p:spPr>
        <p:txBody>
          <a:bodyPr wrap="square" lIns="0" tIns="0" rIns="0" bIns="0" rtlCol="0" anchor="ctr"/>
          <a:lstStyle/>
          <a:p>
            <a:pPr marL="0" indent="0">
              <a:buNone/>
            </a:pPr>
            <a:r>
              <a:rPr lang="en-US" sz="2800" b="1" dirty="0">
                <a:solidFill>
                  <a:schemeClr val="accent2"/>
                </a:solidFill>
                <a:latin typeface="Bricolage Grotesque" pitchFamily="34" charset="0"/>
                <a:ea typeface="Bricolage Grotesque" pitchFamily="34" charset="-122"/>
                <a:cs typeface="Bricolage Grotesque" pitchFamily="34" charset="-120"/>
              </a:rPr>
              <a:t>~60 ms</a:t>
            </a:r>
            <a:endParaRPr lang="en-US" sz="2800" dirty="0"/>
          </a:p>
        </p:txBody>
      </p:sp>
      <p:sp>
        <p:nvSpPr>
          <p:cNvPr id="48" name="Text 46"/>
          <p:cNvSpPr txBox="1"/>
          <p:nvPr/>
        </p:nvSpPr>
        <p:spPr>
          <a:xfrm>
            <a:off x="4526280" y="5413248"/>
            <a:ext cx="3108960" cy="640080"/>
          </a:xfrm>
          <a:prstGeom prst="rect">
            <a:avLst/>
          </a:prstGeom>
          <a:noFill/>
          <a:ln/>
        </p:spPr>
        <p:txBody>
          <a:bodyPr wrap="square" lIns="0" tIns="0" rIns="0" bIns="0" rtlCol="0" anchor="t"/>
          <a:lstStyle/>
          <a:p>
            <a:pPr marL="0" indent="0">
              <a:buNone/>
            </a:pPr>
            <a:r>
              <a:rPr lang="en-US" sz="1200" dirty="0">
                <a:solidFill>
                  <a:schemeClr val="accent6"/>
                </a:solidFill>
                <a:latin typeface="Instrument Sans" pitchFamily="34" charset="0"/>
                <a:ea typeface="Instrument Sans" pitchFamily="34" charset="-122"/>
                <a:cs typeface="Instrument Sans" pitchFamily="34" charset="-120"/>
              </a:rPr>
              <a:t>median search time over 100,000 cases, no LLM needed</a:t>
            </a:r>
            <a:endParaRPr lang="en-US" sz="1200" dirty="0"/>
          </a:p>
        </p:txBody>
      </p:sp>
      <p:sp>
        <p:nvSpPr>
          <p:cNvPr id="49" name="retrieval stat 2"/>
          <p:cNvSpPr/>
          <p:nvPr/>
        </p:nvSpPr>
        <p:spPr>
          <a:xfrm>
            <a:off x="8046720" y="4754880"/>
            <a:ext cx="3520440" cy="1417320"/>
          </a:xfrm>
          <a:prstGeom prst="roundRect">
            <a:avLst>
              <a:gd name="adj" fmla="val 9032"/>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50" name="Text 48"/>
          <p:cNvSpPr txBox="1"/>
          <p:nvPr/>
        </p:nvSpPr>
        <p:spPr>
          <a:xfrm>
            <a:off x="8275320" y="4864608"/>
            <a:ext cx="3108960" cy="548640"/>
          </a:xfrm>
          <a:prstGeom prst="rect">
            <a:avLst/>
          </a:prstGeom>
          <a:noFill/>
          <a:ln/>
        </p:spPr>
        <p:txBody>
          <a:bodyPr wrap="square" lIns="0" tIns="0" rIns="0" bIns="0" rtlCol="0" anchor="ctr"/>
          <a:lstStyle/>
          <a:p>
            <a:pPr marL="0" indent="0">
              <a:buNone/>
            </a:pPr>
            <a:r>
              <a:rPr lang="en-US" sz="2800" b="1" dirty="0">
                <a:solidFill>
                  <a:schemeClr val="accent2"/>
                </a:solidFill>
                <a:latin typeface="Bricolage Grotesque" pitchFamily="34" charset="0"/>
                <a:ea typeface="Bricolage Grotesque" pitchFamily="34" charset="-122"/>
                <a:cs typeface="Bricolage Grotesque" pitchFamily="34" charset="-120"/>
              </a:rPr>
              <a:t>0.92</a:t>
            </a:r>
            <a:endParaRPr lang="en-US" sz="2800" dirty="0"/>
          </a:p>
        </p:txBody>
      </p:sp>
      <p:sp>
        <p:nvSpPr>
          <p:cNvPr id="51" name="Text 49"/>
          <p:cNvSpPr txBox="1"/>
          <p:nvPr/>
        </p:nvSpPr>
        <p:spPr>
          <a:xfrm>
            <a:off x="8275320" y="5413248"/>
            <a:ext cx="3108960" cy="640080"/>
          </a:xfrm>
          <a:prstGeom prst="rect">
            <a:avLst/>
          </a:prstGeom>
          <a:noFill/>
          <a:ln/>
        </p:spPr>
        <p:txBody>
          <a:bodyPr wrap="square" lIns="0" tIns="0" rIns="0" bIns="0" rtlCol="0" anchor="t"/>
          <a:lstStyle/>
          <a:p>
            <a:pPr marL="0" indent="0">
              <a:buNone/>
            </a:pPr>
            <a:r>
              <a:rPr lang="en-US" sz="1200" dirty="0">
                <a:solidFill>
                  <a:schemeClr val="accent6"/>
                </a:solidFill>
                <a:latin typeface="Instrument Sans" pitchFamily="34" charset="0"/>
                <a:ea typeface="Instrument Sans" pitchFamily="34" charset="-122"/>
                <a:cs typeface="Instrument Sans" pitchFamily="34" charset="-120"/>
              </a:rPr>
              <a:t>Precision@10 when the agent adds automatic filters (30 scenarios)</a:t>
            </a:r>
            <a:endParaRPr lang="en-US" sz="1200" dirty="0"/>
          </a:p>
        </p:txBody>
      </p:sp>
      <p:sp>
        <p:nvSpPr>
          <p:cNvPr id="52"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Bricolage Grotesque" pitchFamily="34" charset="0"/>
                <a:ea typeface="Bricolage Grotesque" pitchFamily="34" charset="-122"/>
                <a:cs typeface="Bricolage Grotesque" pitchFamily="34" charset="-120"/>
              </a:rPr>
              <a:t>Agent workflow (LangGraph)</a:t>
            </a:r>
            <a:endParaRPr lang="en-US" sz="3200" dirty="0"/>
          </a:p>
        </p:txBody>
      </p:sp>
      <p:sp>
        <p:nvSpPr>
          <p:cNvPr id="3" name="agent 0"/>
          <p:cNvSpPr/>
          <p:nvPr/>
        </p:nvSpPr>
        <p:spPr>
          <a:xfrm>
            <a:off x="548640" y="2148840"/>
            <a:ext cx="1691640" cy="1691640"/>
          </a:xfrm>
          <a:prstGeom prst="roundRect">
            <a:avLst>
              <a:gd name="adj" fmla="val 7568"/>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 name="agent badge 0"/>
          <p:cNvSpPr/>
          <p:nvPr/>
        </p:nvSpPr>
        <p:spPr>
          <a:xfrm>
            <a:off x="685800" y="2286000"/>
            <a:ext cx="384048" cy="384048"/>
          </a:xfrm>
          <a:prstGeom prst="ellipse">
            <a:avLst/>
          </a:prstGeom>
          <a:solidFill>
            <a:schemeClr val="accent2"/>
          </a:solidFill>
          <a:ln/>
        </p:spPr>
      </p:sp>
      <p:sp>
        <p:nvSpPr>
          <p:cNvPr id="5" name="Text 3"/>
          <p:cNvSpPr txBox="1"/>
          <p:nvPr/>
        </p:nvSpPr>
        <p:spPr>
          <a:xfrm>
            <a:off x="685800" y="228600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Instrument Sans" pitchFamily="34" charset="0"/>
                <a:ea typeface="Instrument Sans" pitchFamily="34" charset="-122"/>
                <a:cs typeface="Instrument Sans" pitchFamily="34" charset="-120"/>
              </a:rPr>
              <a:t>01</a:t>
            </a:r>
            <a:endParaRPr lang="en-US" sz="1300" dirty="0"/>
          </a:p>
        </p:txBody>
      </p:sp>
      <p:sp>
        <p:nvSpPr>
          <p:cNvPr id="6" name="Text 4"/>
          <p:cNvSpPr txBox="1"/>
          <p:nvPr/>
        </p:nvSpPr>
        <p:spPr>
          <a:xfrm>
            <a:off x="685800" y="2770632"/>
            <a:ext cx="1417320" cy="365760"/>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Classification</a:t>
            </a:r>
            <a:endParaRPr lang="en-US" sz="1500" dirty="0"/>
          </a:p>
        </p:txBody>
      </p:sp>
      <p:sp>
        <p:nvSpPr>
          <p:cNvPr id="7" name="Text 5"/>
          <p:cNvSpPr txBox="1"/>
          <p:nvPr/>
        </p:nvSpPr>
        <p:spPr>
          <a:xfrm>
            <a:off x="685800" y="3136392"/>
            <a:ext cx="1417320" cy="64008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type, industry, region, tier, backup, severity</a:t>
            </a:r>
            <a:endParaRPr lang="en-US" sz="1100" dirty="0"/>
          </a:p>
        </p:txBody>
      </p:sp>
      <p:sp>
        <p:nvSpPr>
          <p:cNvPr id="8" name="agent 1"/>
          <p:cNvSpPr/>
          <p:nvPr/>
        </p:nvSpPr>
        <p:spPr>
          <a:xfrm>
            <a:off x="2423160" y="2148840"/>
            <a:ext cx="1691640" cy="1691640"/>
          </a:xfrm>
          <a:prstGeom prst="roundRect">
            <a:avLst>
              <a:gd name="adj" fmla="val 7568"/>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9" name="agent badge 1"/>
          <p:cNvSpPr/>
          <p:nvPr/>
        </p:nvSpPr>
        <p:spPr>
          <a:xfrm>
            <a:off x="2560320" y="2286000"/>
            <a:ext cx="384048" cy="384048"/>
          </a:xfrm>
          <a:prstGeom prst="ellipse">
            <a:avLst/>
          </a:prstGeom>
          <a:solidFill>
            <a:schemeClr val="accent2"/>
          </a:solidFill>
          <a:ln/>
        </p:spPr>
      </p:sp>
      <p:sp>
        <p:nvSpPr>
          <p:cNvPr id="10" name="Text 8"/>
          <p:cNvSpPr txBox="1"/>
          <p:nvPr/>
        </p:nvSpPr>
        <p:spPr>
          <a:xfrm>
            <a:off x="2560320" y="228600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Instrument Sans" pitchFamily="34" charset="0"/>
                <a:ea typeface="Instrument Sans" pitchFamily="34" charset="-122"/>
                <a:cs typeface="Instrument Sans" pitchFamily="34" charset="-120"/>
              </a:rPr>
              <a:t>02</a:t>
            </a:r>
            <a:endParaRPr lang="en-US" sz="1300" dirty="0"/>
          </a:p>
        </p:txBody>
      </p:sp>
      <p:sp>
        <p:nvSpPr>
          <p:cNvPr id="11" name="Text 9"/>
          <p:cNvSpPr txBox="1"/>
          <p:nvPr/>
        </p:nvSpPr>
        <p:spPr>
          <a:xfrm>
            <a:off x="2560320" y="2770632"/>
            <a:ext cx="1417320" cy="365760"/>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Investigation</a:t>
            </a:r>
            <a:endParaRPr lang="en-US" sz="1500" dirty="0"/>
          </a:p>
        </p:txBody>
      </p:sp>
      <p:sp>
        <p:nvSpPr>
          <p:cNvPr id="12" name="Text 10"/>
          <p:cNvSpPr txBox="1"/>
          <p:nvPr/>
        </p:nvSpPr>
        <p:spPr>
          <a:xfrm>
            <a:off x="2560320" y="3136392"/>
            <a:ext cx="1417320" cy="64008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similar cases + a pool of comparable ones</a:t>
            </a:r>
            <a:endParaRPr lang="en-US" sz="1100" dirty="0"/>
          </a:p>
        </p:txBody>
      </p:sp>
      <p:sp>
        <p:nvSpPr>
          <p:cNvPr id="13" name="agent 2"/>
          <p:cNvSpPr/>
          <p:nvPr/>
        </p:nvSpPr>
        <p:spPr>
          <a:xfrm>
            <a:off x="4297680" y="2148840"/>
            <a:ext cx="1691640" cy="1691640"/>
          </a:xfrm>
          <a:prstGeom prst="roundRect">
            <a:avLst>
              <a:gd name="adj" fmla="val 7568"/>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4" name="agent badge 2"/>
          <p:cNvSpPr/>
          <p:nvPr/>
        </p:nvSpPr>
        <p:spPr>
          <a:xfrm>
            <a:off x="4434840" y="2286000"/>
            <a:ext cx="384048" cy="384048"/>
          </a:xfrm>
          <a:prstGeom prst="ellipse">
            <a:avLst/>
          </a:prstGeom>
          <a:solidFill>
            <a:schemeClr val="accent2"/>
          </a:solidFill>
          <a:ln/>
        </p:spPr>
      </p:sp>
      <p:sp>
        <p:nvSpPr>
          <p:cNvPr id="15" name="Text 13"/>
          <p:cNvSpPr txBox="1"/>
          <p:nvPr/>
        </p:nvSpPr>
        <p:spPr>
          <a:xfrm>
            <a:off x="4434840" y="228600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Instrument Sans" pitchFamily="34" charset="0"/>
                <a:ea typeface="Instrument Sans" pitchFamily="34" charset="-122"/>
                <a:cs typeface="Instrument Sans" pitchFamily="34" charset="-120"/>
              </a:rPr>
              <a:t>03</a:t>
            </a:r>
            <a:endParaRPr lang="en-US" sz="1300" dirty="0"/>
          </a:p>
        </p:txBody>
      </p:sp>
      <p:sp>
        <p:nvSpPr>
          <p:cNvPr id="16" name="Text 14"/>
          <p:cNvSpPr txBox="1"/>
          <p:nvPr/>
        </p:nvSpPr>
        <p:spPr>
          <a:xfrm>
            <a:off x="4434840" y="2770632"/>
            <a:ext cx="1417320" cy="365760"/>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Impact</a:t>
            </a:r>
            <a:endParaRPr lang="en-US" sz="1500" dirty="0"/>
          </a:p>
        </p:txBody>
      </p:sp>
      <p:sp>
        <p:nvSpPr>
          <p:cNvPr id="17" name="Text 15"/>
          <p:cNvSpPr txBox="1"/>
          <p:nvPr/>
        </p:nvSpPr>
        <p:spPr>
          <a:xfrm>
            <a:off x="4434840" y="3136392"/>
            <a:ext cx="1417320" cy="64008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impact, loss, recovery ranges; priority P1 to P4</a:t>
            </a:r>
            <a:endParaRPr lang="en-US" sz="1100" dirty="0"/>
          </a:p>
        </p:txBody>
      </p:sp>
      <p:sp>
        <p:nvSpPr>
          <p:cNvPr id="18" name="agent 3"/>
          <p:cNvSpPr/>
          <p:nvPr/>
        </p:nvSpPr>
        <p:spPr>
          <a:xfrm>
            <a:off x="6172200" y="2148840"/>
            <a:ext cx="1691640" cy="1691640"/>
          </a:xfrm>
          <a:prstGeom prst="roundRect">
            <a:avLst>
              <a:gd name="adj" fmla="val 7568"/>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9" name="agent badge 3"/>
          <p:cNvSpPr/>
          <p:nvPr/>
        </p:nvSpPr>
        <p:spPr>
          <a:xfrm>
            <a:off x="6309360" y="2286000"/>
            <a:ext cx="384048" cy="384048"/>
          </a:xfrm>
          <a:prstGeom prst="ellipse">
            <a:avLst/>
          </a:prstGeom>
          <a:solidFill>
            <a:schemeClr val="accent2"/>
          </a:solidFill>
          <a:ln/>
        </p:spPr>
      </p:sp>
      <p:sp>
        <p:nvSpPr>
          <p:cNvPr id="20" name="Text 18"/>
          <p:cNvSpPr txBox="1"/>
          <p:nvPr/>
        </p:nvSpPr>
        <p:spPr>
          <a:xfrm>
            <a:off x="6309360" y="228600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Instrument Sans" pitchFamily="34" charset="0"/>
                <a:ea typeface="Instrument Sans" pitchFamily="34" charset="-122"/>
                <a:cs typeface="Instrument Sans" pitchFamily="34" charset="-120"/>
              </a:rPr>
              <a:t>04</a:t>
            </a:r>
            <a:endParaRPr lang="en-US" sz="1300" dirty="0"/>
          </a:p>
        </p:txBody>
      </p:sp>
      <p:sp>
        <p:nvSpPr>
          <p:cNvPr id="21" name="Text 19"/>
          <p:cNvSpPr txBox="1"/>
          <p:nvPr/>
        </p:nvSpPr>
        <p:spPr>
          <a:xfrm>
            <a:off x="6309360" y="2770632"/>
            <a:ext cx="1417320" cy="365760"/>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Response</a:t>
            </a:r>
            <a:endParaRPr lang="en-US" sz="1500" dirty="0"/>
          </a:p>
        </p:txBody>
      </p:sp>
      <p:sp>
        <p:nvSpPr>
          <p:cNvPr id="22" name="Text 20"/>
          <p:cNvSpPr txBox="1"/>
          <p:nvPr/>
        </p:nvSpPr>
        <p:spPr>
          <a:xfrm>
            <a:off x="6309360" y="3136392"/>
            <a:ext cx="1417320" cy="64008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ranks 5 strategies, LLM writes the plan</a:t>
            </a:r>
            <a:endParaRPr lang="en-US" sz="1100" dirty="0"/>
          </a:p>
        </p:txBody>
      </p:sp>
      <p:sp>
        <p:nvSpPr>
          <p:cNvPr id="23" name="agent 4"/>
          <p:cNvSpPr/>
          <p:nvPr/>
        </p:nvSpPr>
        <p:spPr>
          <a:xfrm>
            <a:off x="8046720" y="2148840"/>
            <a:ext cx="1691640" cy="1691640"/>
          </a:xfrm>
          <a:prstGeom prst="roundRect">
            <a:avLst>
              <a:gd name="adj" fmla="val 7568"/>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4" name="agent badge 4"/>
          <p:cNvSpPr/>
          <p:nvPr/>
        </p:nvSpPr>
        <p:spPr>
          <a:xfrm>
            <a:off x="8183880" y="2286000"/>
            <a:ext cx="384048" cy="384048"/>
          </a:xfrm>
          <a:prstGeom prst="ellipse">
            <a:avLst/>
          </a:prstGeom>
          <a:solidFill>
            <a:schemeClr val="accent2"/>
          </a:solidFill>
          <a:ln/>
        </p:spPr>
      </p:sp>
      <p:sp>
        <p:nvSpPr>
          <p:cNvPr id="25" name="Text 23"/>
          <p:cNvSpPr txBox="1"/>
          <p:nvPr/>
        </p:nvSpPr>
        <p:spPr>
          <a:xfrm>
            <a:off x="8183880" y="228600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Instrument Sans" pitchFamily="34" charset="0"/>
                <a:ea typeface="Instrument Sans" pitchFamily="34" charset="-122"/>
                <a:cs typeface="Instrument Sans" pitchFamily="34" charset="-120"/>
              </a:rPr>
              <a:t>05</a:t>
            </a:r>
            <a:endParaRPr lang="en-US" sz="1300" dirty="0"/>
          </a:p>
        </p:txBody>
      </p:sp>
      <p:sp>
        <p:nvSpPr>
          <p:cNvPr id="26" name="Text 24"/>
          <p:cNvSpPr txBox="1"/>
          <p:nvPr/>
        </p:nvSpPr>
        <p:spPr>
          <a:xfrm>
            <a:off x="8183880" y="2770632"/>
            <a:ext cx="1417320" cy="365760"/>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Recovery</a:t>
            </a:r>
            <a:endParaRPr lang="en-US" sz="1500" dirty="0"/>
          </a:p>
        </p:txBody>
      </p:sp>
      <p:sp>
        <p:nvSpPr>
          <p:cNvPr id="27" name="Text 25"/>
          <p:cNvSpPr txBox="1"/>
          <p:nvPr/>
        </p:nvSpPr>
        <p:spPr>
          <a:xfrm>
            <a:off x="8183880" y="3136392"/>
            <a:ext cx="1417320" cy="64008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timeline, milestones, resilience</a:t>
            </a:r>
            <a:endParaRPr lang="en-US" sz="1100" dirty="0"/>
          </a:p>
        </p:txBody>
      </p:sp>
      <p:sp>
        <p:nvSpPr>
          <p:cNvPr id="28" name="agent 5"/>
          <p:cNvSpPr/>
          <p:nvPr/>
        </p:nvSpPr>
        <p:spPr>
          <a:xfrm>
            <a:off x="9921240" y="2148840"/>
            <a:ext cx="1691640" cy="1691640"/>
          </a:xfrm>
          <a:prstGeom prst="roundRect">
            <a:avLst>
              <a:gd name="adj" fmla="val 7568"/>
            </a:avLst>
          </a:prstGeom>
          <a:solidFill>
            <a:srgbClr val="FDF6E9"/>
          </a:solidFill>
          <a:ln w="9525">
            <a:solidFill>
              <a:srgbClr val="DCE3E8"/>
            </a:solidFill>
            <a:prstDash val="solid"/>
          </a:ln>
          <a:effectLst>
            <a:outerShdw blurRad="127000" dist="25400" dir="5400000" algn="bl" rotWithShape="0">
              <a:srgbClr val="0F1F2E">
                <a:alpha val="10000"/>
              </a:srgbClr>
            </a:outerShdw>
          </a:effectLst>
        </p:spPr>
      </p:sp>
      <p:sp>
        <p:nvSpPr>
          <p:cNvPr id="29" name="agent badge 5"/>
          <p:cNvSpPr/>
          <p:nvPr/>
        </p:nvSpPr>
        <p:spPr>
          <a:xfrm>
            <a:off x="10058400" y="2286000"/>
            <a:ext cx="384048" cy="384048"/>
          </a:xfrm>
          <a:prstGeom prst="ellipse">
            <a:avLst/>
          </a:prstGeom>
          <a:solidFill>
            <a:schemeClr val="accent3"/>
          </a:solidFill>
          <a:ln/>
        </p:spPr>
      </p:sp>
      <p:sp>
        <p:nvSpPr>
          <p:cNvPr id="30" name="Text 28"/>
          <p:cNvSpPr txBox="1"/>
          <p:nvPr/>
        </p:nvSpPr>
        <p:spPr>
          <a:xfrm>
            <a:off x="10058400" y="228600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Instrument Sans" pitchFamily="34" charset="0"/>
                <a:ea typeface="Instrument Sans" pitchFamily="34" charset="-122"/>
                <a:cs typeface="Instrument Sans" pitchFamily="34" charset="-120"/>
              </a:rPr>
              <a:t>06</a:t>
            </a:r>
            <a:endParaRPr lang="en-US" sz="1300" dirty="0"/>
          </a:p>
        </p:txBody>
      </p:sp>
      <p:sp>
        <p:nvSpPr>
          <p:cNvPr id="31" name="Text 29"/>
          <p:cNvSpPr txBox="1"/>
          <p:nvPr/>
        </p:nvSpPr>
        <p:spPr>
          <a:xfrm>
            <a:off x="10058400" y="2770632"/>
            <a:ext cx="1417320" cy="365760"/>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Judge</a:t>
            </a:r>
            <a:endParaRPr lang="en-US" sz="1500" dirty="0"/>
          </a:p>
        </p:txBody>
      </p:sp>
      <p:sp>
        <p:nvSpPr>
          <p:cNvPr id="32" name="Text 30"/>
          <p:cNvSpPr txBox="1"/>
          <p:nvPr/>
        </p:nvSpPr>
        <p:spPr>
          <a:xfrm>
            <a:off x="10058400" y="3136392"/>
            <a:ext cx="1417320" cy="64008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scores 5 criteria; passes at 3.5</a:t>
            </a:r>
            <a:endParaRPr lang="en-US" sz="1100" dirty="0"/>
          </a:p>
        </p:txBody>
      </p:sp>
      <p:sp>
        <p:nvSpPr>
          <p:cNvPr id="33" name="loop up"/>
          <p:cNvSpPr/>
          <p:nvPr/>
        </p:nvSpPr>
        <p:spPr>
          <a:xfrm>
            <a:off x="10767060" y="1691640"/>
            <a:ext cx="0" cy="457200"/>
          </a:xfrm>
          <a:prstGeom prst="line">
            <a:avLst/>
          </a:prstGeom>
          <a:noFill/>
          <a:ln w="22225">
            <a:solidFill>
              <a:srgbClr val="F2A900"/>
            </a:solidFill>
            <a:prstDash val="dash"/>
          </a:ln>
        </p:spPr>
      </p:sp>
      <p:sp>
        <p:nvSpPr>
          <p:cNvPr id="34" name="loop across"/>
          <p:cNvSpPr/>
          <p:nvPr/>
        </p:nvSpPr>
        <p:spPr>
          <a:xfrm>
            <a:off x="7018020" y="1691640"/>
            <a:ext cx="3749040" cy="0"/>
          </a:xfrm>
          <a:prstGeom prst="line">
            <a:avLst/>
          </a:prstGeom>
          <a:noFill/>
          <a:ln w="22225">
            <a:solidFill>
              <a:srgbClr val="F2A900"/>
            </a:solidFill>
            <a:prstDash val="dash"/>
          </a:ln>
        </p:spPr>
      </p:sp>
      <p:sp>
        <p:nvSpPr>
          <p:cNvPr id="35" name="loop down"/>
          <p:cNvSpPr/>
          <p:nvPr/>
        </p:nvSpPr>
        <p:spPr>
          <a:xfrm>
            <a:off x="7018020" y="1691640"/>
            <a:ext cx="0" cy="457200"/>
          </a:xfrm>
          <a:prstGeom prst="line">
            <a:avLst/>
          </a:prstGeom>
          <a:noFill/>
          <a:ln w="22225">
            <a:solidFill>
              <a:srgbClr val="F2A900"/>
            </a:solidFill>
            <a:prstDash val="dash"/>
            <a:tailEnd type="triangle"/>
          </a:ln>
        </p:spPr>
      </p:sp>
      <p:sp>
        <p:nvSpPr>
          <p:cNvPr id="36" name="Text 34"/>
          <p:cNvSpPr txBox="1"/>
          <p:nvPr/>
        </p:nvSpPr>
        <p:spPr>
          <a:xfrm>
            <a:off x="6103620" y="1280160"/>
            <a:ext cx="5577840" cy="320040"/>
          </a:xfrm>
          <a:prstGeom prst="rect">
            <a:avLst/>
          </a:prstGeom>
          <a:noFill/>
          <a:ln/>
        </p:spPr>
        <p:txBody>
          <a:bodyPr wrap="square" lIns="0" tIns="0" rIns="0" bIns="0" rtlCol="0" anchor="ctr"/>
          <a:lstStyle/>
          <a:p>
            <a:pPr marL="0" indent="0" algn="ctr">
              <a:buNone/>
            </a:pPr>
            <a:r>
              <a:rPr lang="en-US" sz="1200" b="1" dirty="0">
                <a:solidFill>
                  <a:srgbClr val="9A6A00"/>
                </a:solidFill>
                <a:latin typeface="Instrument Sans" pitchFamily="34" charset="0"/>
                <a:ea typeface="Instrument Sans" pitchFamily="34" charset="-122"/>
                <a:cs typeface="Instrument Sans" pitchFamily="34" charset="-120"/>
              </a:rPr>
              <a:t>Self-check: score below 3.5 → the plan is revised once</a:t>
            </a:r>
            <a:endParaRPr lang="en-US" sz="1200" dirty="0"/>
          </a:p>
        </p:txBody>
      </p:sp>
      <p:sp>
        <p:nvSpPr>
          <p:cNvPr id="37" name="Text 35"/>
          <p:cNvSpPr txBox="1"/>
          <p:nvPr/>
        </p:nvSpPr>
        <p:spPr>
          <a:xfrm>
            <a:off x="548640" y="1325880"/>
            <a:ext cx="5486400" cy="548640"/>
          </a:xfrm>
          <a:prstGeom prst="rect">
            <a:avLst/>
          </a:prstGeom>
          <a:noFill/>
          <a:ln/>
        </p:spPr>
        <p:txBody>
          <a:bodyPr wrap="square" lIns="0" tIns="0" rIns="0" bIns="0" rtlCol="0" anchor="t"/>
          <a:lstStyle/>
          <a:p>
            <a:pPr marL="0" indent="0">
              <a:buNone/>
            </a:pPr>
            <a:r>
              <a:rPr lang="en-US" sz="1300" i="1" dirty="0">
                <a:solidFill>
                  <a:schemeClr val="accent6"/>
                </a:solidFill>
                <a:latin typeface="Instrument Sans" pitchFamily="34" charset="0"/>
                <a:ea typeface="Instrument Sans" pitchFamily="34" charset="-122"/>
                <a:cs typeface="Instrument Sans" pitchFamily="34" charset="-120"/>
              </a:rPr>
              <a:t>Agents share one typed state; each adds its part and a trace entry the UI shows live.</a:t>
            </a:r>
            <a:endParaRPr lang="en-US" sz="1300" dirty="0"/>
          </a:p>
        </p:txBody>
      </p:sp>
      <p:sp>
        <p:nvSpPr>
          <p:cNvPr id="38" name="decides card"/>
          <p:cNvSpPr/>
          <p:nvPr/>
        </p:nvSpPr>
        <p:spPr>
          <a:xfrm>
            <a:off x="548640" y="4160520"/>
            <a:ext cx="5440680" cy="2011680"/>
          </a:xfrm>
          <a:prstGeom prst="roundRect">
            <a:avLst>
              <a:gd name="adj" fmla="val 6364"/>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39" name="decides circle"/>
          <p:cNvSpPr/>
          <p:nvPr/>
        </p:nvSpPr>
        <p:spPr>
          <a:xfrm>
            <a:off x="777240" y="4389120"/>
            <a:ext cx="566928" cy="566928"/>
          </a:xfrm>
          <a:prstGeom prst="ellipse">
            <a:avLst/>
          </a:prstGeom>
          <a:solidFill>
            <a:srgbClr val="E4EFF4"/>
          </a:solidFill>
          <a:ln/>
        </p:spPr>
      </p:sp>
      <p:pic>
        <p:nvPicPr>
          <p:cNvPr id="40" name="decides icon" descr="preencoded.png"/>
          <p:cNvPicPr>
            <a:picLocks noChangeAspect="1"/>
          </p:cNvPicPr>
          <p:nvPr/>
        </p:nvPicPr>
        <p:blipFill>
          <a:blip r:embed="rId3"/>
          <a:stretch>
            <a:fillRect/>
          </a:stretch>
        </p:blipFill>
        <p:spPr>
          <a:xfrm>
            <a:off x="930311" y="4542191"/>
            <a:ext cx="260787" cy="260787"/>
          </a:xfrm>
          <a:prstGeom prst="rect">
            <a:avLst/>
          </a:prstGeom>
        </p:spPr>
      </p:pic>
      <p:sp>
        <p:nvSpPr>
          <p:cNvPr id="41" name="Text 38"/>
          <p:cNvSpPr txBox="1"/>
          <p:nvPr/>
        </p:nvSpPr>
        <p:spPr>
          <a:xfrm>
            <a:off x="1508760" y="4389120"/>
            <a:ext cx="4343400" cy="566928"/>
          </a:xfrm>
          <a:prstGeom prst="rect">
            <a:avLst/>
          </a:prstGeom>
          <a:noFill/>
          <a:ln/>
        </p:spPr>
        <p:txBody>
          <a:bodyPr wrap="square" lIns="0" tIns="0" rIns="0" bIns="0" rtlCol="0" anchor="ctr"/>
          <a:lstStyle/>
          <a:p>
            <a:pPr marL="0" indent="0">
              <a:buNone/>
            </a:pPr>
            <a:r>
              <a:rPr lang="en-US" sz="1600" b="1" dirty="0">
                <a:solidFill>
                  <a:schemeClr val="tx1"/>
                </a:solidFill>
                <a:latin typeface="Instrument Sans" pitchFamily="34" charset="0"/>
                <a:ea typeface="Instrument Sans" pitchFamily="34" charset="-122"/>
                <a:cs typeface="Instrument Sans" pitchFamily="34" charset="-120"/>
              </a:rPr>
              <a:t>Scoring decides, the LLM explains</a:t>
            </a:r>
            <a:endParaRPr lang="en-US" sz="1600" dirty="0"/>
          </a:p>
        </p:txBody>
      </p:sp>
      <p:sp>
        <p:nvSpPr>
          <p:cNvPr id="42" name="Text 39"/>
          <p:cNvSpPr txBox="1"/>
          <p:nvPr/>
        </p:nvSpPr>
        <p:spPr>
          <a:xfrm>
            <a:off x="777240" y="5029200"/>
            <a:ext cx="5029200" cy="1097280"/>
          </a:xfrm>
          <a:prstGeom prst="rect">
            <a:avLst/>
          </a:prstGeom>
          <a:noFill/>
          <a:ln/>
        </p:spPr>
        <p:txBody>
          <a:bodyPr wrap="square" lIns="0" tIns="0" rIns="0" bIns="0" rtlCol="0" anchor="t"/>
          <a:lstStyle/>
          <a:p>
            <a:pPr marL="0" indent="0">
              <a:buNone/>
            </a:pPr>
            <a:r>
              <a:rPr lang="en-US" sz="1200" dirty="0">
                <a:solidFill>
                  <a:schemeClr val="tx1"/>
                </a:solidFill>
                <a:latin typeface="Instrument Sans" pitchFamily="34" charset="0"/>
                <a:ea typeface="Instrument Sans" pitchFamily="34" charset="-122"/>
                <a:cs typeface="Instrument Sans" pitchFamily="34" charset="-120"/>
              </a:rPr>
              <a:t>Strategies are compared on hundreds of comparable past cases with the same backup status. Score = 45% recovery time, 25% revenue loss, 15% supplier-change risk, 15% evidence. Output guardrails strip any number or case ID not in the evidence.</a:t>
            </a:r>
            <a:endParaRPr lang="en-US" sz="1200" dirty="0"/>
          </a:p>
        </p:txBody>
      </p:sp>
      <p:sp>
        <p:nvSpPr>
          <p:cNvPr id="43" name="priority card"/>
          <p:cNvSpPr/>
          <p:nvPr/>
        </p:nvSpPr>
        <p:spPr>
          <a:xfrm>
            <a:off x="6172200" y="4160520"/>
            <a:ext cx="5440680" cy="2011680"/>
          </a:xfrm>
          <a:prstGeom prst="roundRect">
            <a:avLst>
              <a:gd name="adj" fmla="val 6364"/>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4" name="priority circle"/>
          <p:cNvSpPr/>
          <p:nvPr/>
        </p:nvSpPr>
        <p:spPr>
          <a:xfrm>
            <a:off x="6400800" y="4389120"/>
            <a:ext cx="566928" cy="566928"/>
          </a:xfrm>
          <a:prstGeom prst="ellipse">
            <a:avLst/>
          </a:prstGeom>
          <a:solidFill>
            <a:srgbClr val="E4EFF4"/>
          </a:solidFill>
          <a:ln/>
        </p:spPr>
      </p:sp>
      <p:pic>
        <p:nvPicPr>
          <p:cNvPr id="45" name="priority icon" descr="preencoded.png"/>
          <p:cNvPicPr>
            <a:picLocks noChangeAspect="1"/>
          </p:cNvPicPr>
          <p:nvPr/>
        </p:nvPicPr>
        <p:blipFill>
          <a:blip r:embed="rId4"/>
          <a:stretch>
            <a:fillRect/>
          </a:stretch>
        </p:blipFill>
        <p:spPr>
          <a:xfrm>
            <a:off x="6553871" y="4542191"/>
            <a:ext cx="260787" cy="260787"/>
          </a:xfrm>
          <a:prstGeom prst="rect">
            <a:avLst/>
          </a:prstGeom>
        </p:spPr>
      </p:pic>
      <p:sp>
        <p:nvSpPr>
          <p:cNvPr id="46" name="Text 42"/>
          <p:cNvSpPr txBox="1"/>
          <p:nvPr/>
        </p:nvSpPr>
        <p:spPr>
          <a:xfrm>
            <a:off x="7132320" y="4389120"/>
            <a:ext cx="4343400" cy="566928"/>
          </a:xfrm>
          <a:prstGeom prst="rect">
            <a:avLst/>
          </a:prstGeom>
          <a:noFill/>
          <a:ln/>
        </p:spPr>
        <p:txBody>
          <a:bodyPr wrap="square" lIns="0" tIns="0" rIns="0" bIns="0" rtlCol="0" anchor="ctr"/>
          <a:lstStyle/>
          <a:p>
            <a:pPr marL="0" indent="0">
              <a:buNone/>
            </a:pPr>
            <a:r>
              <a:rPr lang="en-US" sz="1600" b="1" dirty="0">
                <a:solidFill>
                  <a:schemeClr val="tx1"/>
                </a:solidFill>
                <a:latin typeface="Instrument Sans" pitchFamily="34" charset="0"/>
                <a:ea typeface="Instrument Sans" pitchFamily="34" charset="-122"/>
                <a:cs typeface="Instrument Sans" pitchFamily="34" charset="-120"/>
              </a:rPr>
              <a:t>Transparent priority P1 to P4</a:t>
            </a:r>
            <a:endParaRPr lang="en-US" sz="1600" dirty="0"/>
          </a:p>
        </p:txBody>
      </p:sp>
      <p:sp>
        <p:nvSpPr>
          <p:cNvPr id="47" name="Text 43"/>
          <p:cNvSpPr txBox="1"/>
          <p:nvPr/>
        </p:nvSpPr>
        <p:spPr>
          <a:xfrm>
            <a:off x="6400800" y="5029200"/>
            <a:ext cx="5029200" cy="1097280"/>
          </a:xfrm>
          <a:prstGeom prst="rect">
            <a:avLst/>
          </a:prstGeom>
          <a:noFill/>
          <a:ln/>
        </p:spPr>
        <p:txBody>
          <a:bodyPr wrap="square" lIns="0" tIns="0" rIns="0" bIns="0" rtlCol="0" anchor="t"/>
          <a:lstStyle/>
          <a:p>
            <a:pPr marL="0" indent="0">
              <a:buNone/>
            </a:pPr>
            <a:r>
              <a:rPr lang="en-US" sz="1200" dirty="0">
                <a:solidFill>
                  <a:schemeClr val="tx1"/>
                </a:solidFill>
                <a:latin typeface="Instrument Sans" pitchFamily="34" charset="0"/>
                <a:ea typeface="Instrument Sans" pitchFamily="34" charset="-122"/>
                <a:cs typeface="Instrument Sans" pitchFamily="34" charset="-120"/>
              </a:rPr>
              <a:t>35% severity, 25% production impact, 25% financial loss, 10% supplier tier, 5% no backup. P1 ≥ 70, P2 ≥ 50, P3 ≥ 30. Unknown impact or loss comes from the ML predictions, and every factor is shown.</a:t>
            </a:r>
            <a:endParaRPr lang="en-US" sz="1200" dirty="0"/>
          </a:p>
        </p:txBody>
      </p:sp>
      <p:sp>
        <p:nvSpPr>
          <p:cNvPr id="48"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Bricolage Grotesque" pitchFamily="34" charset="0"/>
                <a:ea typeface="Bricolage Grotesque" pitchFamily="34" charset="-122"/>
                <a:cs typeface="Bricolage Grotesque" pitchFamily="34" charset="-120"/>
              </a:rPr>
              <a:t>Prediction models: LightGBM</a:t>
            </a:r>
            <a:endParaRPr lang="en-US" sz="3200" dirty="0"/>
          </a:p>
        </p:txBody>
      </p:sp>
      <p:sp>
        <p:nvSpPr>
          <p:cNvPr id="3" name="inputs card"/>
          <p:cNvSpPr/>
          <p:nvPr/>
        </p:nvSpPr>
        <p:spPr>
          <a:xfrm>
            <a:off x="548640" y="1325880"/>
            <a:ext cx="3108960" cy="3520440"/>
          </a:xfrm>
          <a:prstGeom prst="roundRect">
            <a:avLst>
              <a:gd name="adj" fmla="val 4118"/>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 name="Text 2"/>
          <p:cNvSpPr txBox="1"/>
          <p:nvPr/>
        </p:nvSpPr>
        <p:spPr>
          <a:xfrm>
            <a:off x="777240" y="1508760"/>
            <a:ext cx="2743200" cy="27432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Instrument Sans" pitchFamily="34" charset="0"/>
                <a:ea typeface="Instrument Sans" pitchFamily="34" charset="-122"/>
                <a:cs typeface="Instrument Sans" pitchFamily="34" charset="-120"/>
              </a:rPr>
              <a:t>8 INPUTS</a:t>
            </a:r>
            <a:endParaRPr lang="en-US" sz="1100" dirty="0"/>
          </a:p>
        </p:txBody>
      </p:sp>
      <p:sp>
        <p:nvSpPr>
          <p:cNvPr id="5" name="feature 0"/>
          <p:cNvSpPr/>
          <p:nvPr/>
        </p:nvSpPr>
        <p:spPr>
          <a:xfrm>
            <a:off x="777240" y="1874520"/>
            <a:ext cx="1325880" cy="475488"/>
          </a:xfrm>
          <a:prstGeom prst="roundRect">
            <a:avLst>
              <a:gd name="adj" fmla="val 19231"/>
            </a:avLst>
          </a:prstGeom>
          <a:solidFill>
            <a:srgbClr val="E4EFF4"/>
          </a:solidFill>
          <a:ln/>
        </p:spPr>
      </p:sp>
      <p:sp>
        <p:nvSpPr>
          <p:cNvPr id="6" name="Text 4"/>
          <p:cNvSpPr txBox="1"/>
          <p:nvPr/>
        </p:nvSpPr>
        <p:spPr>
          <a:xfrm>
            <a:off x="777240" y="1874520"/>
            <a:ext cx="1325880" cy="475488"/>
          </a:xfrm>
          <a:prstGeom prst="rect">
            <a:avLst/>
          </a:prstGeom>
          <a:noFill/>
          <a:ln/>
        </p:spPr>
        <p:txBody>
          <a:bodyPr wrap="square" lIns="0" tIns="0" rIns="0" bIns="0" rtlCol="0" anchor="ctr"/>
          <a:lstStyle/>
          <a:p>
            <a:pPr marL="0" indent="0" algn="ctr">
              <a:buNone/>
            </a:pPr>
            <a:r>
              <a:rPr lang="en-US" sz="1100" dirty="0">
                <a:solidFill>
                  <a:schemeClr val="tx1"/>
                </a:solidFill>
                <a:latin typeface="Instrument Sans" pitchFamily="34" charset="0"/>
                <a:ea typeface="Instrument Sans" pitchFamily="34" charset="-122"/>
                <a:cs typeface="Instrument Sans" pitchFamily="34" charset="-120"/>
              </a:rPr>
              <a:t>Disruption type</a:t>
            </a:r>
            <a:endParaRPr lang="en-US" sz="1100" dirty="0"/>
          </a:p>
        </p:txBody>
      </p:sp>
      <p:sp>
        <p:nvSpPr>
          <p:cNvPr id="7" name="feature 1"/>
          <p:cNvSpPr/>
          <p:nvPr/>
        </p:nvSpPr>
        <p:spPr>
          <a:xfrm>
            <a:off x="2194560" y="1874520"/>
            <a:ext cx="1325880" cy="475488"/>
          </a:xfrm>
          <a:prstGeom prst="roundRect">
            <a:avLst>
              <a:gd name="adj" fmla="val 19231"/>
            </a:avLst>
          </a:prstGeom>
          <a:solidFill>
            <a:srgbClr val="E4EFF4"/>
          </a:solidFill>
          <a:ln/>
        </p:spPr>
      </p:sp>
      <p:sp>
        <p:nvSpPr>
          <p:cNvPr id="8" name="Text 6"/>
          <p:cNvSpPr txBox="1"/>
          <p:nvPr/>
        </p:nvSpPr>
        <p:spPr>
          <a:xfrm>
            <a:off x="2194560" y="1874520"/>
            <a:ext cx="1325880" cy="475488"/>
          </a:xfrm>
          <a:prstGeom prst="rect">
            <a:avLst/>
          </a:prstGeom>
          <a:noFill/>
          <a:ln/>
        </p:spPr>
        <p:txBody>
          <a:bodyPr wrap="square" lIns="0" tIns="0" rIns="0" bIns="0" rtlCol="0" anchor="ctr"/>
          <a:lstStyle/>
          <a:p>
            <a:pPr marL="0" indent="0" algn="ctr">
              <a:buNone/>
            </a:pPr>
            <a:r>
              <a:rPr lang="en-US" sz="1100" dirty="0">
                <a:solidFill>
                  <a:schemeClr val="tx1"/>
                </a:solidFill>
                <a:latin typeface="Instrument Sans" pitchFamily="34" charset="0"/>
                <a:ea typeface="Instrument Sans" pitchFamily="34" charset="-122"/>
                <a:cs typeface="Instrument Sans" pitchFamily="34" charset="-120"/>
              </a:rPr>
              <a:t>Industry</a:t>
            </a:r>
            <a:endParaRPr lang="en-US" sz="1100" dirty="0"/>
          </a:p>
        </p:txBody>
      </p:sp>
      <p:sp>
        <p:nvSpPr>
          <p:cNvPr id="9" name="feature 2"/>
          <p:cNvSpPr/>
          <p:nvPr/>
        </p:nvSpPr>
        <p:spPr>
          <a:xfrm>
            <a:off x="777240" y="2441448"/>
            <a:ext cx="1325880" cy="475488"/>
          </a:xfrm>
          <a:prstGeom prst="roundRect">
            <a:avLst>
              <a:gd name="adj" fmla="val 19231"/>
            </a:avLst>
          </a:prstGeom>
          <a:solidFill>
            <a:srgbClr val="E4EFF4"/>
          </a:solidFill>
          <a:ln/>
        </p:spPr>
      </p:sp>
      <p:sp>
        <p:nvSpPr>
          <p:cNvPr id="10" name="Text 8"/>
          <p:cNvSpPr txBox="1"/>
          <p:nvPr/>
        </p:nvSpPr>
        <p:spPr>
          <a:xfrm>
            <a:off x="777240" y="2441448"/>
            <a:ext cx="1325880" cy="475488"/>
          </a:xfrm>
          <a:prstGeom prst="rect">
            <a:avLst/>
          </a:prstGeom>
          <a:noFill/>
          <a:ln/>
        </p:spPr>
        <p:txBody>
          <a:bodyPr wrap="square" lIns="0" tIns="0" rIns="0" bIns="0" rtlCol="0" anchor="ctr"/>
          <a:lstStyle/>
          <a:p>
            <a:pPr marL="0" indent="0" algn="ctr">
              <a:buNone/>
            </a:pPr>
            <a:r>
              <a:rPr lang="en-US" sz="1100" dirty="0">
                <a:solidFill>
                  <a:schemeClr val="tx1"/>
                </a:solidFill>
                <a:latin typeface="Instrument Sans" pitchFamily="34" charset="0"/>
                <a:ea typeface="Instrument Sans" pitchFamily="34" charset="-122"/>
                <a:cs typeface="Instrument Sans" pitchFamily="34" charset="-120"/>
              </a:rPr>
              <a:t>Region</a:t>
            </a:r>
            <a:endParaRPr lang="en-US" sz="1100" dirty="0"/>
          </a:p>
        </p:txBody>
      </p:sp>
      <p:sp>
        <p:nvSpPr>
          <p:cNvPr id="11" name="feature 3"/>
          <p:cNvSpPr/>
          <p:nvPr/>
        </p:nvSpPr>
        <p:spPr>
          <a:xfrm>
            <a:off x="2194560" y="2441448"/>
            <a:ext cx="1325880" cy="475488"/>
          </a:xfrm>
          <a:prstGeom prst="roundRect">
            <a:avLst>
              <a:gd name="adj" fmla="val 19231"/>
            </a:avLst>
          </a:prstGeom>
          <a:solidFill>
            <a:srgbClr val="E4EFF4"/>
          </a:solidFill>
          <a:ln/>
        </p:spPr>
      </p:sp>
      <p:sp>
        <p:nvSpPr>
          <p:cNvPr id="12" name="Text 10"/>
          <p:cNvSpPr txBox="1"/>
          <p:nvPr/>
        </p:nvSpPr>
        <p:spPr>
          <a:xfrm>
            <a:off x="2194560" y="2441448"/>
            <a:ext cx="1325880" cy="475488"/>
          </a:xfrm>
          <a:prstGeom prst="rect">
            <a:avLst/>
          </a:prstGeom>
          <a:noFill/>
          <a:ln/>
        </p:spPr>
        <p:txBody>
          <a:bodyPr wrap="square" lIns="0" tIns="0" rIns="0" bIns="0" rtlCol="0" anchor="ctr"/>
          <a:lstStyle/>
          <a:p>
            <a:pPr marL="0" indent="0" algn="ctr">
              <a:buNone/>
            </a:pPr>
            <a:r>
              <a:rPr lang="en-US" sz="1100" dirty="0">
                <a:solidFill>
                  <a:schemeClr val="tx1"/>
                </a:solidFill>
                <a:latin typeface="Instrument Sans" pitchFamily="34" charset="0"/>
                <a:ea typeface="Instrument Sans" pitchFamily="34" charset="-122"/>
                <a:cs typeface="Instrument Sans" pitchFamily="34" charset="-120"/>
              </a:rPr>
              <a:t>Supplier tier</a:t>
            </a:r>
            <a:endParaRPr lang="en-US" sz="1100" dirty="0"/>
          </a:p>
        </p:txBody>
      </p:sp>
      <p:sp>
        <p:nvSpPr>
          <p:cNvPr id="13" name="feature 4"/>
          <p:cNvSpPr/>
          <p:nvPr/>
        </p:nvSpPr>
        <p:spPr>
          <a:xfrm>
            <a:off x="777240" y="3008376"/>
            <a:ext cx="1325880" cy="475488"/>
          </a:xfrm>
          <a:prstGeom prst="roundRect">
            <a:avLst>
              <a:gd name="adj" fmla="val 19231"/>
            </a:avLst>
          </a:prstGeom>
          <a:solidFill>
            <a:srgbClr val="E4EFF4"/>
          </a:solidFill>
          <a:ln/>
        </p:spPr>
      </p:sp>
      <p:sp>
        <p:nvSpPr>
          <p:cNvPr id="14" name="Text 12"/>
          <p:cNvSpPr txBox="1"/>
          <p:nvPr/>
        </p:nvSpPr>
        <p:spPr>
          <a:xfrm>
            <a:off x="777240" y="3008376"/>
            <a:ext cx="1325880" cy="475488"/>
          </a:xfrm>
          <a:prstGeom prst="rect">
            <a:avLst/>
          </a:prstGeom>
          <a:noFill/>
          <a:ln/>
        </p:spPr>
        <p:txBody>
          <a:bodyPr wrap="square" lIns="0" tIns="0" rIns="0" bIns="0" rtlCol="0" anchor="ctr"/>
          <a:lstStyle/>
          <a:p>
            <a:pPr marL="0" indent="0" algn="ctr">
              <a:buNone/>
            </a:pPr>
            <a:r>
              <a:rPr lang="en-US" sz="1100" dirty="0">
                <a:solidFill>
                  <a:schemeClr val="tx1"/>
                </a:solidFill>
                <a:latin typeface="Instrument Sans" pitchFamily="34" charset="0"/>
                <a:ea typeface="Instrument Sans" pitchFamily="34" charset="-122"/>
                <a:cs typeface="Instrument Sans" pitchFamily="34" charset="-120"/>
              </a:rPr>
              <a:t>Supplier size</a:t>
            </a:r>
            <a:endParaRPr lang="en-US" sz="1100" dirty="0"/>
          </a:p>
        </p:txBody>
      </p:sp>
      <p:sp>
        <p:nvSpPr>
          <p:cNvPr id="15" name="feature 5"/>
          <p:cNvSpPr/>
          <p:nvPr/>
        </p:nvSpPr>
        <p:spPr>
          <a:xfrm>
            <a:off x="2194560" y="3008376"/>
            <a:ext cx="1325880" cy="475488"/>
          </a:xfrm>
          <a:prstGeom prst="roundRect">
            <a:avLst>
              <a:gd name="adj" fmla="val 19231"/>
            </a:avLst>
          </a:prstGeom>
          <a:solidFill>
            <a:srgbClr val="E4EFF4"/>
          </a:solidFill>
          <a:ln/>
        </p:spPr>
      </p:sp>
      <p:sp>
        <p:nvSpPr>
          <p:cNvPr id="16" name="Text 14"/>
          <p:cNvSpPr txBox="1"/>
          <p:nvPr/>
        </p:nvSpPr>
        <p:spPr>
          <a:xfrm>
            <a:off x="2194560" y="3008376"/>
            <a:ext cx="1325880" cy="475488"/>
          </a:xfrm>
          <a:prstGeom prst="rect">
            <a:avLst/>
          </a:prstGeom>
          <a:noFill/>
          <a:ln/>
        </p:spPr>
        <p:txBody>
          <a:bodyPr wrap="square" lIns="0" tIns="0" rIns="0" bIns="0" rtlCol="0" anchor="ctr"/>
          <a:lstStyle/>
          <a:p>
            <a:pPr marL="0" indent="0" algn="ctr">
              <a:buNone/>
            </a:pPr>
            <a:r>
              <a:rPr lang="en-US" sz="1100" dirty="0">
                <a:solidFill>
                  <a:schemeClr val="tx1"/>
                </a:solidFill>
                <a:latin typeface="Instrument Sans" pitchFamily="34" charset="0"/>
                <a:ea typeface="Instrument Sans" pitchFamily="34" charset="-122"/>
                <a:cs typeface="Instrument Sans" pitchFamily="34" charset="-120"/>
              </a:rPr>
              <a:t>Backup supplier</a:t>
            </a:r>
            <a:endParaRPr lang="en-US" sz="1100" dirty="0"/>
          </a:p>
        </p:txBody>
      </p:sp>
      <p:sp>
        <p:nvSpPr>
          <p:cNvPr id="17" name="feature 6"/>
          <p:cNvSpPr/>
          <p:nvPr/>
        </p:nvSpPr>
        <p:spPr>
          <a:xfrm>
            <a:off x="777240" y="3575304"/>
            <a:ext cx="1325880" cy="475488"/>
          </a:xfrm>
          <a:prstGeom prst="roundRect">
            <a:avLst>
              <a:gd name="adj" fmla="val 19231"/>
            </a:avLst>
          </a:prstGeom>
          <a:solidFill>
            <a:srgbClr val="E4EFF4"/>
          </a:solidFill>
          <a:ln/>
        </p:spPr>
      </p:sp>
      <p:sp>
        <p:nvSpPr>
          <p:cNvPr id="18" name="Text 16"/>
          <p:cNvSpPr txBox="1"/>
          <p:nvPr/>
        </p:nvSpPr>
        <p:spPr>
          <a:xfrm>
            <a:off x="777240" y="3575304"/>
            <a:ext cx="1325880" cy="475488"/>
          </a:xfrm>
          <a:prstGeom prst="rect">
            <a:avLst/>
          </a:prstGeom>
          <a:noFill/>
          <a:ln/>
        </p:spPr>
        <p:txBody>
          <a:bodyPr wrap="square" lIns="0" tIns="0" rIns="0" bIns="0" rtlCol="0" anchor="ctr"/>
          <a:lstStyle/>
          <a:p>
            <a:pPr marL="0" indent="0" algn="ctr">
              <a:buNone/>
            </a:pPr>
            <a:r>
              <a:rPr lang="en-US" sz="1100" dirty="0">
                <a:solidFill>
                  <a:schemeClr val="tx1"/>
                </a:solidFill>
                <a:latin typeface="Instrument Sans" pitchFamily="34" charset="0"/>
                <a:ea typeface="Instrument Sans" pitchFamily="34" charset="-122"/>
                <a:cs typeface="Instrument Sans" pitchFamily="34" charset="-120"/>
              </a:rPr>
              <a:t>Severity</a:t>
            </a:r>
            <a:endParaRPr lang="en-US" sz="1100" dirty="0"/>
          </a:p>
        </p:txBody>
      </p:sp>
      <p:sp>
        <p:nvSpPr>
          <p:cNvPr id="19" name="feature 7"/>
          <p:cNvSpPr/>
          <p:nvPr/>
        </p:nvSpPr>
        <p:spPr>
          <a:xfrm>
            <a:off x="2194560" y="3575304"/>
            <a:ext cx="1325880" cy="475488"/>
          </a:xfrm>
          <a:prstGeom prst="roundRect">
            <a:avLst>
              <a:gd name="adj" fmla="val 19231"/>
            </a:avLst>
          </a:prstGeom>
          <a:solidFill>
            <a:srgbClr val="FDF3DA"/>
          </a:solidFill>
          <a:ln/>
        </p:spPr>
      </p:sp>
      <p:sp>
        <p:nvSpPr>
          <p:cNvPr id="20" name="Text 18"/>
          <p:cNvSpPr txBox="1"/>
          <p:nvPr/>
        </p:nvSpPr>
        <p:spPr>
          <a:xfrm>
            <a:off x="2194560" y="3575304"/>
            <a:ext cx="1325880" cy="475488"/>
          </a:xfrm>
          <a:prstGeom prst="rect">
            <a:avLst/>
          </a:prstGeom>
          <a:noFill/>
          <a:ln/>
        </p:spPr>
        <p:txBody>
          <a:bodyPr wrap="square" lIns="0" tIns="0" rIns="0" bIns="0" rtlCol="0" anchor="ctr"/>
          <a:lstStyle/>
          <a:p>
            <a:pPr marL="0" indent="0" algn="ctr">
              <a:buNone/>
            </a:pPr>
            <a:r>
              <a:rPr lang="en-US" sz="1100" b="1" dirty="0">
                <a:solidFill>
                  <a:srgbClr val="6B4B00"/>
                </a:solidFill>
                <a:latin typeface="Instrument Sans" pitchFamily="34" charset="0"/>
                <a:ea typeface="Instrument Sans" pitchFamily="34" charset="-122"/>
                <a:cs typeface="Instrument Sans" pitchFamily="34" charset="-120"/>
              </a:rPr>
              <a:t>Response (what-if)</a:t>
            </a:r>
            <a:endParaRPr lang="en-US" sz="1100" dirty="0"/>
          </a:p>
        </p:txBody>
      </p:sp>
      <p:sp>
        <p:nvSpPr>
          <p:cNvPr id="21" name="Text 19"/>
          <p:cNvSpPr txBox="1"/>
          <p:nvPr/>
        </p:nvSpPr>
        <p:spPr>
          <a:xfrm>
            <a:off x="777240" y="4224528"/>
            <a:ext cx="2697480" cy="502920"/>
          </a:xfrm>
          <a:prstGeom prst="rect">
            <a:avLst/>
          </a:prstGeom>
          <a:noFill/>
          <a:ln/>
        </p:spPr>
        <p:txBody>
          <a:bodyPr wrap="square" lIns="0" tIns="0" rIns="0" bIns="0" rtlCol="0" anchor="t"/>
          <a:lstStyle/>
          <a:p>
            <a:pPr marL="0" indent="0">
              <a:buNone/>
            </a:pPr>
            <a:r>
              <a:rPr lang="en-US" sz="1000" dirty="0">
                <a:solidFill>
                  <a:schemeClr val="accent6"/>
                </a:solidFill>
                <a:latin typeface="Instrument Sans" pitchFamily="34" charset="0"/>
                <a:ea typeface="Instrument Sans" pitchFamily="34" charset="-122"/>
                <a:cs typeface="Instrument Sans" pitchFamily="34" charset="-120"/>
              </a:rPr>
              <a:t>Changing the response input gives a what-if estimate for each of the 5 strategies.</a:t>
            </a:r>
            <a:endParaRPr lang="en-US" sz="1000" dirty="0"/>
          </a:p>
        </p:txBody>
      </p:sp>
      <p:sp>
        <p:nvSpPr>
          <p:cNvPr id="22" name="inputs arrow"/>
          <p:cNvSpPr/>
          <p:nvPr/>
        </p:nvSpPr>
        <p:spPr>
          <a:xfrm>
            <a:off x="3730752" y="3081528"/>
            <a:ext cx="365760" cy="0"/>
          </a:xfrm>
          <a:prstGeom prst="line">
            <a:avLst/>
          </a:prstGeom>
          <a:noFill/>
          <a:ln w="22225">
            <a:solidFill>
              <a:srgbClr val="1D7A9E"/>
            </a:solidFill>
            <a:prstDash val="solid"/>
            <a:tailEnd type="triangle"/>
          </a:ln>
        </p:spPr>
      </p:sp>
      <p:sp>
        <p:nvSpPr>
          <p:cNvPr id="23" name="models card"/>
          <p:cNvSpPr/>
          <p:nvPr/>
        </p:nvSpPr>
        <p:spPr>
          <a:xfrm>
            <a:off x="4160520" y="1325880"/>
            <a:ext cx="4114800" cy="3520440"/>
          </a:xfrm>
          <a:prstGeom prst="roundRect">
            <a:avLst>
              <a:gd name="adj" fmla="val 3636"/>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4" name="models circle"/>
          <p:cNvSpPr/>
          <p:nvPr/>
        </p:nvSpPr>
        <p:spPr>
          <a:xfrm>
            <a:off x="4389120" y="1536192"/>
            <a:ext cx="502920" cy="502920"/>
          </a:xfrm>
          <a:prstGeom prst="ellipse">
            <a:avLst/>
          </a:prstGeom>
          <a:solidFill>
            <a:srgbClr val="E4EFF4"/>
          </a:solidFill>
          <a:ln/>
        </p:spPr>
      </p:sp>
      <p:pic>
        <p:nvPicPr>
          <p:cNvPr id="25" name="models icon" descr="preencoded.png"/>
          <p:cNvPicPr>
            <a:picLocks noChangeAspect="1"/>
          </p:cNvPicPr>
          <p:nvPr/>
        </p:nvPicPr>
        <p:blipFill>
          <a:blip r:embed="rId3"/>
          <a:stretch>
            <a:fillRect/>
          </a:stretch>
        </p:blipFill>
        <p:spPr>
          <a:xfrm>
            <a:off x="4524908" y="1671980"/>
            <a:ext cx="231343" cy="231343"/>
          </a:xfrm>
          <a:prstGeom prst="rect">
            <a:avLst/>
          </a:prstGeom>
        </p:spPr>
      </p:pic>
      <p:sp>
        <p:nvSpPr>
          <p:cNvPr id="26" name="Text 23"/>
          <p:cNvSpPr txBox="1"/>
          <p:nvPr/>
        </p:nvSpPr>
        <p:spPr>
          <a:xfrm>
            <a:off x="5029200" y="1536192"/>
            <a:ext cx="3108960" cy="502920"/>
          </a:xfrm>
          <a:prstGeom prst="rect">
            <a:avLst/>
          </a:prstGeom>
          <a:noFill/>
          <a:ln/>
        </p:spPr>
        <p:txBody>
          <a:bodyPr wrap="square" lIns="0" tIns="0" rIns="0" bIns="0" rtlCol="0" anchor="ctr"/>
          <a:lstStyle/>
          <a:p>
            <a:pPr marL="0" indent="0">
              <a:buNone/>
            </a:pPr>
            <a:r>
              <a:rPr lang="en-US" sz="1700" b="1" dirty="0">
                <a:solidFill>
                  <a:schemeClr val="tx1"/>
                </a:solidFill>
                <a:latin typeface="Instrument Sans" pitchFamily="34" charset="0"/>
                <a:ea typeface="Instrument Sans" pitchFamily="34" charset="-122"/>
                <a:cs typeface="Instrument Sans" pitchFamily="34" charset="-120"/>
              </a:rPr>
              <a:t>14 LightGBM models</a:t>
            </a:r>
            <a:endParaRPr lang="en-US" sz="1700" dirty="0"/>
          </a:p>
        </p:txBody>
      </p:sp>
      <p:sp>
        <p:nvSpPr>
          <p:cNvPr id="27" name="Text 24"/>
          <p:cNvSpPr txBox="1"/>
          <p:nvPr/>
        </p:nvSpPr>
        <p:spPr>
          <a:xfrm>
            <a:off x="4389120" y="2194560"/>
            <a:ext cx="3749040" cy="274320"/>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Instrument Sans" pitchFamily="34" charset="0"/>
                <a:ea typeface="Instrument Sans" pitchFamily="34" charset="-122"/>
                <a:cs typeface="Instrument Sans" pitchFamily="34" charset="-120"/>
              </a:rPr>
              <a:t>4 OUTCOMES × 3 MODELS (P10 · P50 · P90)</a:t>
            </a:r>
            <a:endParaRPr lang="en-US" sz="1000" dirty="0"/>
          </a:p>
        </p:txBody>
      </p:sp>
      <p:sp>
        <p:nvSpPr>
          <p:cNvPr id="28" name="Text 25"/>
          <p:cNvSpPr txBox="1"/>
          <p:nvPr/>
        </p:nvSpPr>
        <p:spPr>
          <a:xfrm>
            <a:off x="4389120" y="2514600"/>
            <a:ext cx="3749040" cy="310896"/>
          </a:xfrm>
          <a:prstGeom prst="rect">
            <a:avLst/>
          </a:prstGeom>
          <a:noFill/>
          <a:ln/>
        </p:spPr>
        <p:txBody>
          <a:bodyPr wrap="square" lIns="0" tIns="0" rIns="0" bIns="0" rtlCol="0" anchor="ctr"/>
          <a:lstStyle/>
          <a:p>
            <a:pPr marL="342900" indent="-342900">
              <a:buSzPct val="100000"/>
              <a:buChar char="•"/>
            </a:pPr>
            <a:r>
              <a:rPr lang="en-US" sz="1300" dirty="0">
                <a:solidFill>
                  <a:schemeClr val="tx1"/>
                </a:solidFill>
                <a:latin typeface="Instrument Sans" pitchFamily="34" charset="0"/>
                <a:ea typeface="Instrument Sans" pitchFamily="34" charset="-122"/>
                <a:cs typeface="Instrument Sans" pitchFamily="34" charset="-120"/>
              </a:rPr>
              <a:t>Production impact %</a:t>
            </a:r>
            <a:endParaRPr lang="en-US" sz="1300" dirty="0"/>
          </a:p>
        </p:txBody>
      </p:sp>
      <p:sp>
        <p:nvSpPr>
          <p:cNvPr id="29" name="Text 26"/>
          <p:cNvSpPr txBox="1"/>
          <p:nvPr/>
        </p:nvSpPr>
        <p:spPr>
          <a:xfrm>
            <a:off x="4389120" y="2843784"/>
            <a:ext cx="3749040" cy="310896"/>
          </a:xfrm>
          <a:prstGeom prst="rect">
            <a:avLst/>
          </a:prstGeom>
          <a:noFill/>
          <a:ln/>
        </p:spPr>
        <p:txBody>
          <a:bodyPr wrap="square" lIns="0" tIns="0" rIns="0" bIns="0" rtlCol="0" anchor="ctr"/>
          <a:lstStyle/>
          <a:p>
            <a:pPr marL="342900" indent="-342900">
              <a:buSzPct val="100000"/>
              <a:buChar char="•"/>
            </a:pPr>
            <a:r>
              <a:rPr lang="en-US" sz="1300" dirty="0">
                <a:solidFill>
                  <a:schemeClr val="tx1"/>
                </a:solidFill>
                <a:latin typeface="Instrument Sans" pitchFamily="34" charset="0"/>
                <a:ea typeface="Instrument Sans" pitchFamily="34" charset="-122"/>
                <a:cs typeface="Instrument Sans" pitchFamily="34" charset="-120"/>
              </a:rPr>
              <a:t>Revenue loss (log scale)</a:t>
            </a:r>
            <a:endParaRPr lang="en-US" sz="1300" dirty="0"/>
          </a:p>
        </p:txBody>
      </p:sp>
      <p:sp>
        <p:nvSpPr>
          <p:cNvPr id="30" name="Text 27"/>
          <p:cNvSpPr txBox="1"/>
          <p:nvPr/>
        </p:nvSpPr>
        <p:spPr>
          <a:xfrm>
            <a:off x="4389120" y="3172968"/>
            <a:ext cx="3749040" cy="310896"/>
          </a:xfrm>
          <a:prstGeom prst="rect">
            <a:avLst/>
          </a:prstGeom>
          <a:noFill/>
          <a:ln/>
        </p:spPr>
        <p:txBody>
          <a:bodyPr wrap="square" lIns="0" tIns="0" rIns="0" bIns="0" rtlCol="0" anchor="ctr"/>
          <a:lstStyle/>
          <a:p>
            <a:pPr marL="342900" indent="-342900">
              <a:buSzPct val="100000"/>
              <a:buChar char="•"/>
            </a:pPr>
            <a:r>
              <a:rPr lang="en-US" sz="1300" dirty="0">
                <a:solidFill>
                  <a:schemeClr val="tx1"/>
                </a:solidFill>
                <a:latin typeface="Instrument Sans" pitchFamily="34" charset="0"/>
                <a:ea typeface="Instrument Sans" pitchFamily="34" charset="-122"/>
                <a:cs typeface="Instrument Sans" pitchFamily="34" charset="-120"/>
              </a:rPr>
              <a:t>Full recovery days</a:t>
            </a:r>
            <a:endParaRPr lang="en-US" sz="1300" dirty="0"/>
          </a:p>
        </p:txBody>
      </p:sp>
      <p:sp>
        <p:nvSpPr>
          <p:cNvPr id="31" name="Text 28"/>
          <p:cNvSpPr txBox="1"/>
          <p:nvPr/>
        </p:nvSpPr>
        <p:spPr>
          <a:xfrm>
            <a:off x="4389120" y="3502152"/>
            <a:ext cx="3749040" cy="310896"/>
          </a:xfrm>
          <a:prstGeom prst="rect">
            <a:avLst/>
          </a:prstGeom>
          <a:noFill/>
          <a:ln/>
        </p:spPr>
        <p:txBody>
          <a:bodyPr wrap="square" lIns="0" tIns="0" rIns="0" bIns="0" rtlCol="0" anchor="ctr"/>
          <a:lstStyle/>
          <a:p>
            <a:pPr marL="342900" indent="-342900">
              <a:buSzPct val="100000"/>
              <a:buChar char="•"/>
            </a:pPr>
            <a:r>
              <a:rPr lang="en-US" sz="1300" dirty="0">
                <a:solidFill>
                  <a:schemeClr val="tx1"/>
                </a:solidFill>
                <a:latin typeface="Instrument Sans" pitchFamily="34" charset="0"/>
                <a:ea typeface="Instrument Sans" pitchFamily="34" charset="-122"/>
                <a:cs typeface="Instrument Sans" pitchFamily="34" charset="-120"/>
              </a:rPr>
              <a:t>Partial recovery days</a:t>
            </a:r>
            <a:endParaRPr lang="en-US" sz="1300" dirty="0"/>
          </a:p>
        </p:txBody>
      </p:sp>
      <p:sp>
        <p:nvSpPr>
          <p:cNvPr id="32" name="Text 29"/>
          <p:cNvSpPr txBox="1"/>
          <p:nvPr/>
        </p:nvSpPr>
        <p:spPr>
          <a:xfrm>
            <a:off x="4389120" y="3904488"/>
            <a:ext cx="3749040" cy="274320"/>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Instrument Sans" pitchFamily="34" charset="0"/>
                <a:ea typeface="Instrument Sans" pitchFamily="34" charset="-122"/>
                <a:cs typeface="Instrument Sans" pitchFamily="34" charset="-120"/>
              </a:rPr>
              <a:t>2 RISK CLASSIFIERS</a:t>
            </a:r>
            <a:endParaRPr lang="en-US" sz="1000" dirty="0"/>
          </a:p>
        </p:txBody>
      </p:sp>
      <p:sp>
        <p:nvSpPr>
          <p:cNvPr id="33" name="Text 30"/>
          <p:cNvSpPr txBox="1"/>
          <p:nvPr/>
        </p:nvSpPr>
        <p:spPr>
          <a:xfrm>
            <a:off x="4389120" y="4206240"/>
            <a:ext cx="3749040" cy="457200"/>
          </a:xfrm>
          <a:prstGeom prst="rect">
            <a:avLst/>
          </a:prstGeom>
          <a:noFill/>
          <a:ln/>
        </p:spPr>
        <p:txBody>
          <a:bodyPr wrap="square" lIns="0" tIns="0" rIns="0" bIns="0" rtlCol="0" anchor="t"/>
          <a:lstStyle/>
          <a:p>
            <a:pPr marL="0" indent="0">
              <a:buNone/>
            </a:pPr>
            <a:r>
              <a:rPr lang="en-US" sz="1300" dirty="0">
                <a:solidFill>
                  <a:schemeClr val="tx1"/>
                </a:solidFill>
                <a:latin typeface="Instrument Sans" pitchFamily="34" charset="0"/>
                <a:ea typeface="Instrument Sans" pitchFamily="34" charset="-122"/>
                <a:cs typeface="Instrument Sans" pitchFamily="34" charset="-120"/>
              </a:rPr>
              <a:t>High-impact risk · Permanent supplier change</a:t>
            </a:r>
            <a:endParaRPr lang="en-US" sz="1300" dirty="0"/>
          </a:p>
        </p:txBody>
      </p:sp>
      <p:sp>
        <p:nvSpPr>
          <p:cNvPr id="34" name="models arrow"/>
          <p:cNvSpPr/>
          <p:nvPr/>
        </p:nvSpPr>
        <p:spPr>
          <a:xfrm>
            <a:off x="8348472" y="3081528"/>
            <a:ext cx="365760" cy="0"/>
          </a:xfrm>
          <a:prstGeom prst="line">
            <a:avLst/>
          </a:prstGeom>
          <a:noFill/>
          <a:ln w="22225">
            <a:solidFill>
              <a:srgbClr val="1D7A9E"/>
            </a:solidFill>
            <a:prstDash val="solid"/>
            <a:tailEnd type="triangle"/>
          </a:ln>
        </p:spPr>
      </p:sp>
      <p:sp>
        <p:nvSpPr>
          <p:cNvPr id="35" name="feeds card"/>
          <p:cNvSpPr/>
          <p:nvPr/>
        </p:nvSpPr>
        <p:spPr>
          <a:xfrm>
            <a:off x="8778240" y="1325880"/>
            <a:ext cx="2834640" cy="3520440"/>
          </a:xfrm>
          <a:prstGeom prst="roundRect">
            <a:avLst>
              <a:gd name="adj" fmla="val 4516"/>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36" name="Text 33"/>
          <p:cNvSpPr txBox="1"/>
          <p:nvPr/>
        </p:nvSpPr>
        <p:spPr>
          <a:xfrm>
            <a:off x="9006840" y="1508760"/>
            <a:ext cx="2377440" cy="27432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Instrument Sans" pitchFamily="34" charset="0"/>
                <a:ea typeface="Instrument Sans" pitchFamily="34" charset="-122"/>
                <a:cs typeface="Instrument Sans" pitchFamily="34" charset="-120"/>
              </a:rPr>
              <a:t>FEEDS</a:t>
            </a:r>
            <a:endParaRPr lang="en-US" sz="1100" dirty="0"/>
          </a:p>
        </p:txBody>
      </p:sp>
      <p:sp>
        <p:nvSpPr>
          <p:cNvPr id="37" name="Text 34"/>
          <p:cNvSpPr txBox="1"/>
          <p:nvPr/>
        </p:nvSpPr>
        <p:spPr>
          <a:xfrm>
            <a:off x="9006840" y="1874520"/>
            <a:ext cx="2468880" cy="274320"/>
          </a:xfrm>
          <a:prstGeom prst="rect">
            <a:avLst/>
          </a:prstGeom>
          <a:noFill/>
          <a:ln/>
        </p:spPr>
        <p:txBody>
          <a:bodyPr wrap="square" lIns="0" tIns="0" rIns="0" bIns="0" rtlCol="0" anchor="ctr"/>
          <a:lstStyle/>
          <a:p>
            <a:pPr marL="0" indent="0">
              <a:buNone/>
            </a:pPr>
            <a:r>
              <a:rPr lang="en-US" sz="1300" b="1" dirty="0">
                <a:solidFill>
                  <a:schemeClr val="tx1"/>
                </a:solidFill>
                <a:latin typeface="Instrument Sans" pitchFamily="34" charset="0"/>
                <a:ea typeface="Instrument Sans" pitchFamily="34" charset="-122"/>
                <a:cs typeface="Instrument Sans" pitchFamily="34" charset="-120"/>
              </a:rPr>
              <a:t>Impact agent</a:t>
            </a:r>
            <a:endParaRPr lang="en-US" sz="1300" dirty="0"/>
          </a:p>
        </p:txBody>
      </p:sp>
      <p:sp>
        <p:nvSpPr>
          <p:cNvPr id="38" name="Text 35"/>
          <p:cNvSpPr txBox="1"/>
          <p:nvPr/>
        </p:nvSpPr>
        <p:spPr>
          <a:xfrm>
            <a:off x="9006840" y="2130552"/>
            <a:ext cx="2468880" cy="274320"/>
          </a:xfrm>
          <a:prstGeom prst="rect">
            <a:avLst/>
          </a:prstGeom>
          <a:noFill/>
          <a:ln/>
        </p:spPr>
        <p:txBody>
          <a:bodyPr wrap="square" lIns="0" tIns="0" rIns="0" bIns="0" rtlCol="0" anchor="ctr"/>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headline ranges + priority</a:t>
            </a:r>
            <a:endParaRPr lang="en-US" sz="1100" dirty="0"/>
          </a:p>
        </p:txBody>
      </p:sp>
      <p:sp>
        <p:nvSpPr>
          <p:cNvPr id="39" name="Text 36"/>
          <p:cNvSpPr txBox="1"/>
          <p:nvPr/>
        </p:nvSpPr>
        <p:spPr>
          <a:xfrm>
            <a:off x="9006840" y="2450592"/>
            <a:ext cx="2468880" cy="274320"/>
          </a:xfrm>
          <a:prstGeom prst="rect">
            <a:avLst/>
          </a:prstGeom>
          <a:noFill/>
          <a:ln/>
        </p:spPr>
        <p:txBody>
          <a:bodyPr wrap="square" lIns="0" tIns="0" rIns="0" bIns="0" rtlCol="0" anchor="ctr"/>
          <a:lstStyle/>
          <a:p>
            <a:pPr marL="0" indent="0">
              <a:buNone/>
            </a:pPr>
            <a:r>
              <a:rPr lang="en-US" sz="1300" b="1" dirty="0">
                <a:solidFill>
                  <a:schemeClr val="tx1"/>
                </a:solidFill>
                <a:latin typeface="Instrument Sans" pitchFamily="34" charset="0"/>
                <a:ea typeface="Instrument Sans" pitchFamily="34" charset="-122"/>
                <a:cs typeface="Instrument Sans" pitchFamily="34" charset="-120"/>
              </a:rPr>
              <a:t>Response agent</a:t>
            </a:r>
            <a:endParaRPr lang="en-US" sz="1300" dirty="0"/>
          </a:p>
        </p:txBody>
      </p:sp>
      <p:sp>
        <p:nvSpPr>
          <p:cNvPr id="40" name="Text 37"/>
          <p:cNvSpPr txBox="1"/>
          <p:nvPr/>
        </p:nvSpPr>
        <p:spPr>
          <a:xfrm>
            <a:off x="9006840" y="2706624"/>
            <a:ext cx="2468880" cy="274320"/>
          </a:xfrm>
          <a:prstGeom prst="rect">
            <a:avLst/>
          </a:prstGeom>
          <a:noFill/>
          <a:ln/>
        </p:spPr>
        <p:txBody>
          <a:bodyPr wrap="square" lIns="0" tIns="0" rIns="0" bIns="0" rtlCol="0" anchor="ctr"/>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what-if per strategy</a:t>
            </a:r>
            <a:endParaRPr lang="en-US" sz="1100" dirty="0"/>
          </a:p>
        </p:txBody>
      </p:sp>
      <p:sp>
        <p:nvSpPr>
          <p:cNvPr id="41" name="Text 38"/>
          <p:cNvSpPr txBox="1"/>
          <p:nvPr/>
        </p:nvSpPr>
        <p:spPr>
          <a:xfrm>
            <a:off x="9006840" y="3026664"/>
            <a:ext cx="2468880" cy="274320"/>
          </a:xfrm>
          <a:prstGeom prst="rect">
            <a:avLst/>
          </a:prstGeom>
          <a:noFill/>
          <a:ln/>
        </p:spPr>
        <p:txBody>
          <a:bodyPr wrap="square" lIns="0" tIns="0" rIns="0" bIns="0" rtlCol="0" anchor="ctr"/>
          <a:lstStyle/>
          <a:p>
            <a:pPr marL="0" indent="0">
              <a:buNone/>
            </a:pPr>
            <a:r>
              <a:rPr lang="en-US" sz="1300" b="1" dirty="0">
                <a:solidFill>
                  <a:schemeClr val="tx1"/>
                </a:solidFill>
                <a:latin typeface="Instrument Sans" pitchFamily="34" charset="0"/>
                <a:ea typeface="Instrument Sans" pitchFamily="34" charset="-122"/>
                <a:cs typeface="Instrument Sans" pitchFamily="34" charset="-120"/>
              </a:rPr>
              <a:t>Recovery agent</a:t>
            </a:r>
            <a:endParaRPr lang="en-US" sz="1300" dirty="0"/>
          </a:p>
        </p:txBody>
      </p:sp>
      <p:sp>
        <p:nvSpPr>
          <p:cNvPr id="42" name="Text 39"/>
          <p:cNvSpPr txBox="1"/>
          <p:nvPr/>
        </p:nvSpPr>
        <p:spPr>
          <a:xfrm>
            <a:off x="9006840" y="3282696"/>
            <a:ext cx="2468880" cy="274320"/>
          </a:xfrm>
          <a:prstGeom prst="rect">
            <a:avLst/>
          </a:prstGeom>
          <a:noFill/>
          <a:ln/>
        </p:spPr>
        <p:txBody>
          <a:bodyPr wrap="square" lIns="0" tIns="0" rIns="0" bIns="0" rtlCol="0" anchor="ctr"/>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timeline, supplier change</a:t>
            </a:r>
            <a:endParaRPr lang="en-US" sz="1100" dirty="0"/>
          </a:p>
        </p:txBody>
      </p:sp>
      <p:sp>
        <p:nvSpPr>
          <p:cNvPr id="43" name="Text 40"/>
          <p:cNvSpPr txBox="1"/>
          <p:nvPr/>
        </p:nvSpPr>
        <p:spPr>
          <a:xfrm>
            <a:off x="9006840" y="3602736"/>
            <a:ext cx="2468880" cy="274320"/>
          </a:xfrm>
          <a:prstGeom prst="rect">
            <a:avLst/>
          </a:prstGeom>
          <a:noFill/>
          <a:ln/>
        </p:spPr>
        <p:txBody>
          <a:bodyPr wrap="square" lIns="0" tIns="0" rIns="0" bIns="0" rtlCol="0" anchor="ctr"/>
          <a:lstStyle/>
          <a:p>
            <a:pPr marL="0" indent="0">
              <a:buNone/>
            </a:pPr>
            <a:r>
              <a:rPr lang="en-US" sz="1300" b="1" dirty="0">
                <a:solidFill>
                  <a:schemeClr val="tx1"/>
                </a:solidFill>
                <a:latin typeface="Instrument Sans" pitchFamily="34" charset="0"/>
                <a:ea typeface="Instrument Sans" pitchFamily="34" charset="-122"/>
                <a:cs typeface="Instrument Sans" pitchFamily="34" charset="-120"/>
              </a:rPr>
              <a:t>Risk page</a:t>
            </a:r>
            <a:endParaRPr lang="en-US" sz="1300" dirty="0"/>
          </a:p>
        </p:txBody>
      </p:sp>
      <p:sp>
        <p:nvSpPr>
          <p:cNvPr id="44" name="Text 41"/>
          <p:cNvSpPr txBox="1"/>
          <p:nvPr/>
        </p:nvSpPr>
        <p:spPr>
          <a:xfrm>
            <a:off x="9006840" y="3858768"/>
            <a:ext cx="2468880" cy="274320"/>
          </a:xfrm>
          <a:prstGeom prst="rect">
            <a:avLst/>
          </a:prstGeom>
          <a:noFill/>
          <a:ln/>
        </p:spPr>
        <p:txBody>
          <a:bodyPr wrap="square" lIns="0" tIns="0" rIns="0" bIns="0" rtlCol="0" anchor="ctr"/>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resilience score</a:t>
            </a:r>
            <a:endParaRPr lang="en-US" sz="1100" dirty="0"/>
          </a:p>
        </p:txBody>
      </p:sp>
      <p:sp>
        <p:nvSpPr>
          <p:cNvPr id="45" name="Text 42"/>
          <p:cNvSpPr txBox="1"/>
          <p:nvPr/>
        </p:nvSpPr>
        <p:spPr>
          <a:xfrm>
            <a:off x="9006840" y="4178808"/>
            <a:ext cx="2468880" cy="274320"/>
          </a:xfrm>
          <a:prstGeom prst="rect">
            <a:avLst/>
          </a:prstGeom>
          <a:noFill/>
          <a:ln/>
        </p:spPr>
        <p:txBody>
          <a:bodyPr wrap="square" lIns="0" tIns="0" rIns="0" bIns="0" rtlCol="0" anchor="ctr"/>
          <a:lstStyle/>
          <a:p>
            <a:pPr marL="0" indent="0">
              <a:buNone/>
            </a:pPr>
            <a:r>
              <a:rPr lang="en-US" sz="1300" b="1" dirty="0">
                <a:solidFill>
                  <a:schemeClr val="tx1"/>
                </a:solidFill>
                <a:latin typeface="Instrument Sans" pitchFamily="34" charset="0"/>
                <a:ea typeface="Instrument Sans" pitchFamily="34" charset="-122"/>
                <a:cs typeface="Instrument Sans" pitchFamily="34" charset="-120"/>
              </a:rPr>
              <a:t>SHAP</a:t>
            </a:r>
            <a:endParaRPr lang="en-US" sz="1300" dirty="0"/>
          </a:p>
        </p:txBody>
      </p:sp>
      <p:sp>
        <p:nvSpPr>
          <p:cNvPr id="46" name="Text 43"/>
          <p:cNvSpPr txBox="1"/>
          <p:nvPr/>
        </p:nvSpPr>
        <p:spPr>
          <a:xfrm>
            <a:off x="9006840" y="4434840"/>
            <a:ext cx="2468880" cy="274320"/>
          </a:xfrm>
          <a:prstGeom prst="rect">
            <a:avLst/>
          </a:prstGeom>
          <a:noFill/>
          <a:ln/>
        </p:spPr>
        <p:txBody>
          <a:bodyPr wrap="square" lIns="0" tIns="0" rIns="0" bIns="0" rtlCol="0" anchor="ctr"/>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why each number came out</a:t>
            </a:r>
            <a:endParaRPr lang="en-US" sz="1100" dirty="0"/>
          </a:p>
        </p:txBody>
      </p:sp>
      <p:sp>
        <p:nvSpPr>
          <p:cNvPr id="47" name="model stat 0"/>
          <p:cNvSpPr/>
          <p:nvPr/>
        </p:nvSpPr>
        <p:spPr>
          <a:xfrm>
            <a:off x="548640" y="5074920"/>
            <a:ext cx="3520440" cy="1097280"/>
          </a:xfrm>
          <a:prstGeom prst="roundRect">
            <a:avLst>
              <a:gd name="adj" fmla="val 11667"/>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8" name="Text 45"/>
          <p:cNvSpPr txBox="1"/>
          <p:nvPr/>
        </p:nvSpPr>
        <p:spPr>
          <a:xfrm>
            <a:off x="777240" y="5138928"/>
            <a:ext cx="3108960" cy="457200"/>
          </a:xfrm>
          <a:prstGeom prst="rect">
            <a:avLst/>
          </a:prstGeom>
          <a:noFill/>
          <a:ln/>
        </p:spPr>
        <p:txBody>
          <a:bodyPr wrap="square" lIns="0" tIns="0" rIns="0" bIns="0" rtlCol="0" anchor="ctr"/>
          <a:lstStyle/>
          <a:p>
            <a:pPr marL="0" indent="0">
              <a:buNone/>
            </a:pPr>
            <a:r>
              <a:rPr lang="en-US" sz="2200" b="1" dirty="0">
                <a:solidFill>
                  <a:schemeClr val="accent1"/>
                </a:solidFill>
                <a:latin typeface="Bricolage Grotesque" pitchFamily="34" charset="0"/>
                <a:ea typeface="Bricolage Grotesque" pitchFamily="34" charset="-122"/>
                <a:cs typeface="Bricolage Grotesque" pitchFamily="34" charset="-120"/>
              </a:rPr>
              <a:t>80k / 20k</a:t>
            </a:r>
            <a:endParaRPr lang="en-US" sz="2200" dirty="0"/>
          </a:p>
        </p:txBody>
      </p:sp>
      <p:sp>
        <p:nvSpPr>
          <p:cNvPr id="49" name="Text 46"/>
          <p:cNvSpPr txBox="1"/>
          <p:nvPr/>
        </p:nvSpPr>
        <p:spPr>
          <a:xfrm>
            <a:off x="777240" y="5577840"/>
            <a:ext cx="31089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rows to train / held back to test (80/20 split)</a:t>
            </a:r>
            <a:endParaRPr lang="en-US" sz="1100" dirty="0"/>
          </a:p>
        </p:txBody>
      </p:sp>
      <p:sp>
        <p:nvSpPr>
          <p:cNvPr id="50" name="model stat 1"/>
          <p:cNvSpPr/>
          <p:nvPr/>
        </p:nvSpPr>
        <p:spPr>
          <a:xfrm>
            <a:off x="4297680" y="5074920"/>
            <a:ext cx="3520440" cy="1097280"/>
          </a:xfrm>
          <a:prstGeom prst="roundRect">
            <a:avLst>
              <a:gd name="adj" fmla="val 11667"/>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51" name="Text 48"/>
          <p:cNvSpPr txBox="1"/>
          <p:nvPr/>
        </p:nvSpPr>
        <p:spPr>
          <a:xfrm>
            <a:off x="4526280" y="5138928"/>
            <a:ext cx="3108960" cy="457200"/>
          </a:xfrm>
          <a:prstGeom prst="rect">
            <a:avLst/>
          </a:prstGeom>
          <a:noFill/>
          <a:ln/>
        </p:spPr>
        <p:txBody>
          <a:bodyPr wrap="square" lIns="0" tIns="0" rIns="0" bIns="0" rtlCol="0" anchor="ctr"/>
          <a:lstStyle/>
          <a:p>
            <a:pPr marL="0" indent="0">
              <a:buNone/>
            </a:pPr>
            <a:r>
              <a:rPr lang="en-US" sz="2200" b="1" dirty="0">
                <a:solidFill>
                  <a:schemeClr val="accent1"/>
                </a:solidFill>
                <a:latin typeface="Bricolage Grotesque" pitchFamily="34" charset="0"/>
                <a:ea typeface="Bricolage Grotesque" pitchFamily="34" charset="-122"/>
                <a:cs typeface="Bricolage Grotesque" pitchFamily="34" charset="-120"/>
              </a:rPr>
              <a:t>0.70 R²</a:t>
            </a:r>
            <a:endParaRPr lang="en-US" sz="2200" dirty="0"/>
          </a:p>
        </p:txBody>
      </p:sp>
      <p:sp>
        <p:nvSpPr>
          <p:cNvPr id="52" name="Text 49"/>
          <p:cNvSpPr txBox="1"/>
          <p:nvPr/>
        </p:nvSpPr>
        <p:spPr>
          <a:xfrm>
            <a:off x="4526280" y="5577840"/>
            <a:ext cx="31089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production impact; the P10 to P90 range holds the true value ~79% of the time</a:t>
            </a:r>
            <a:endParaRPr lang="en-US" sz="1100" dirty="0"/>
          </a:p>
        </p:txBody>
      </p:sp>
      <p:sp>
        <p:nvSpPr>
          <p:cNvPr id="53" name="model stat 2"/>
          <p:cNvSpPr/>
          <p:nvPr/>
        </p:nvSpPr>
        <p:spPr>
          <a:xfrm>
            <a:off x="8046720" y="5074920"/>
            <a:ext cx="3520440" cy="1097280"/>
          </a:xfrm>
          <a:prstGeom prst="roundRect">
            <a:avLst>
              <a:gd name="adj" fmla="val 11667"/>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54" name="Text 51"/>
          <p:cNvSpPr txBox="1"/>
          <p:nvPr/>
        </p:nvSpPr>
        <p:spPr>
          <a:xfrm>
            <a:off x="8275320" y="5138928"/>
            <a:ext cx="3108960" cy="457200"/>
          </a:xfrm>
          <a:prstGeom prst="rect">
            <a:avLst/>
          </a:prstGeom>
          <a:noFill/>
          <a:ln/>
        </p:spPr>
        <p:txBody>
          <a:bodyPr wrap="square" lIns="0" tIns="0" rIns="0" bIns="0" rtlCol="0" anchor="ctr"/>
          <a:lstStyle/>
          <a:p>
            <a:pPr marL="0" indent="0">
              <a:buNone/>
            </a:pPr>
            <a:r>
              <a:rPr lang="en-US" sz="2200" b="1" dirty="0">
                <a:solidFill>
                  <a:schemeClr val="accent1"/>
                </a:solidFill>
                <a:latin typeface="Bricolage Grotesque" pitchFamily="34" charset="0"/>
                <a:ea typeface="Bricolage Grotesque" pitchFamily="34" charset="-122"/>
                <a:cs typeface="Bricolage Grotesque" pitchFamily="34" charset="-120"/>
              </a:rPr>
              <a:t>Tied</a:t>
            </a:r>
            <a:endParaRPr lang="en-US" sz="2200" dirty="0"/>
          </a:p>
        </p:txBody>
      </p:sp>
      <p:sp>
        <p:nvSpPr>
          <p:cNvPr id="55" name="Text 52"/>
          <p:cNvSpPr txBox="1"/>
          <p:nvPr/>
        </p:nvSpPr>
        <p:spPr>
          <a:xfrm>
            <a:off x="8275320" y="5577840"/>
            <a:ext cx="31089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with random forest and linear models, so the data, not the model, is the limit</a:t>
            </a:r>
            <a:endParaRPr lang="en-US" sz="1100" dirty="0"/>
          </a:p>
        </p:txBody>
      </p:sp>
      <p:sp>
        <p:nvSpPr>
          <p:cNvPr id="56"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Bricolage Grotesque" pitchFamily="34" charset="0"/>
                <a:ea typeface="Bricolage Grotesque" pitchFamily="34" charset="-122"/>
                <a:cs typeface="Bricolage Grotesque" pitchFamily="34" charset="-120"/>
              </a:rPr>
              <a:t>Technology stack</a:t>
            </a:r>
            <a:endParaRPr lang="en-US" sz="3200" dirty="0"/>
          </a:p>
        </p:txBody>
      </p:sp>
      <p:sp>
        <p:nvSpPr>
          <p:cNvPr id="3" name="tech 0"/>
          <p:cNvSpPr/>
          <p:nvPr/>
        </p:nvSpPr>
        <p:spPr>
          <a:xfrm>
            <a:off x="548640" y="1371600"/>
            <a:ext cx="2606040" cy="2194560"/>
          </a:xfrm>
          <a:prstGeom prst="roundRect">
            <a:avLst>
              <a:gd name="adj" fmla="val 58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 name="tech 0 circle"/>
          <p:cNvSpPr/>
          <p:nvPr/>
        </p:nvSpPr>
        <p:spPr>
          <a:xfrm>
            <a:off x="777240" y="1600200"/>
            <a:ext cx="548640" cy="548640"/>
          </a:xfrm>
          <a:prstGeom prst="ellipse">
            <a:avLst/>
          </a:prstGeom>
          <a:solidFill>
            <a:srgbClr val="E4EFF4"/>
          </a:solidFill>
          <a:ln/>
        </p:spPr>
      </p:sp>
      <p:pic>
        <p:nvPicPr>
          <p:cNvPr id="5" name="tech 0 icon" descr="preencoded.png"/>
          <p:cNvPicPr>
            <a:picLocks noChangeAspect="1"/>
          </p:cNvPicPr>
          <p:nvPr/>
        </p:nvPicPr>
        <p:blipFill>
          <a:blip r:embed="rId3"/>
          <a:stretch>
            <a:fillRect/>
          </a:stretch>
        </p:blipFill>
        <p:spPr>
          <a:xfrm>
            <a:off x="925373" y="1748333"/>
            <a:ext cx="252374" cy="252374"/>
          </a:xfrm>
          <a:prstGeom prst="rect">
            <a:avLst/>
          </a:prstGeom>
        </p:spPr>
      </p:pic>
      <p:sp>
        <p:nvSpPr>
          <p:cNvPr id="6" name="Text 3"/>
          <p:cNvSpPr txBox="1"/>
          <p:nvPr/>
        </p:nvSpPr>
        <p:spPr>
          <a:xfrm>
            <a:off x="777240" y="2267712"/>
            <a:ext cx="2194560" cy="274320"/>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Instrument Sans" pitchFamily="34" charset="0"/>
                <a:ea typeface="Instrument Sans" pitchFamily="34" charset="-122"/>
                <a:cs typeface="Instrument Sans" pitchFamily="34" charset="-120"/>
              </a:rPr>
              <a:t>LLM</a:t>
            </a:r>
            <a:endParaRPr lang="en-US" sz="1000" dirty="0"/>
          </a:p>
        </p:txBody>
      </p:sp>
      <p:sp>
        <p:nvSpPr>
          <p:cNvPr id="7" name="Text 4"/>
          <p:cNvSpPr txBox="1"/>
          <p:nvPr/>
        </p:nvSpPr>
        <p:spPr>
          <a:xfrm>
            <a:off x="777240" y="2542032"/>
            <a:ext cx="2194560" cy="457200"/>
          </a:xfrm>
          <a:prstGeom prst="rect">
            <a:avLst/>
          </a:prstGeom>
          <a:noFill/>
          <a:ln/>
        </p:spPr>
        <p:txBody>
          <a:bodyPr wrap="square" lIns="0" tIns="0" rIns="0" bIns="0" rtlCol="0" anchor="t"/>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Claude Sonnet 5.5</a:t>
            </a:r>
            <a:endParaRPr lang="en-US" sz="1400" dirty="0"/>
          </a:p>
        </p:txBody>
      </p:sp>
      <p:sp>
        <p:nvSpPr>
          <p:cNvPr id="8" name="Text 5"/>
          <p:cNvSpPr txBox="1"/>
          <p:nvPr/>
        </p:nvSpPr>
        <p:spPr>
          <a:xfrm>
            <a:off x="777240" y="2999232"/>
            <a:ext cx="21945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JSON output, sticks to evidence; provider switchable</a:t>
            </a:r>
            <a:endParaRPr lang="en-US" sz="1100" dirty="0"/>
          </a:p>
        </p:txBody>
      </p:sp>
      <p:sp>
        <p:nvSpPr>
          <p:cNvPr id="9" name="tech 1"/>
          <p:cNvSpPr/>
          <p:nvPr/>
        </p:nvSpPr>
        <p:spPr>
          <a:xfrm>
            <a:off x="3355848" y="1371600"/>
            <a:ext cx="2606040" cy="2194560"/>
          </a:xfrm>
          <a:prstGeom prst="roundRect">
            <a:avLst>
              <a:gd name="adj" fmla="val 58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0" name="tech 1 circle"/>
          <p:cNvSpPr/>
          <p:nvPr/>
        </p:nvSpPr>
        <p:spPr>
          <a:xfrm>
            <a:off x="3584448" y="1600200"/>
            <a:ext cx="548640" cy="548640"/>
          </a:xfrm>
          <a:prstGeom prst="ellipse">
            <a:avLst/>
          </a:prstGeom>
          <a:solidFill>
            <a:srgbClr val="E4EFF4"/>
          </a:solidFill>
          <a:ln/>
        </p:spPr>
      </p:sp>
      <p:pic>
        <p:nvPicPr>
          <p:cNvPr id="11" name="tech 1 icon" descr="preencoded.png"/>
          <p:cNvPicPr>
            <a:picLocks noChangeAspect="1"/>
          </p:cNvPicPr>
          <p:nvPr/>
        </p:nvPicPr>
        <p:blipFill>
          <a:blip r:embed="rId4"/>
          <a:stretch>
            <a:fillRect/>
          </a:stretch>
        </p:blipFill>
        <p:spPr>
          <a:xfrm>
            <a:off x="3732581" y="1748333"/>
            <a:ext cx="252374" cy="252374"/>
          </a:xfrm>
          <a:prstGeom prst="rect">
            <a:avLst/>
          </a:prstGeom>
        </p:spPr>
      </p:pic>
      <p:sp>
        <p:nvSpPr>
          <p:cNvPr id="12" name="Text 8"/>
          <p:cNvSpPr txBox="1"/>
          <p:nvPr/>
        </p:nvSpPr>
        <p:spPr>
          <a:xfrm>
            <a:off x="3584448" y="2267712"/>
            <a:ext cx="2194560" cy="274320"/>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Instrument Sans" pitchFamily="34" charset="0"/>
                <a:ea typeface="Instrument Sans" pitchFamily="34" charset="-122"/>
                <a:cs typeface="Instrument Sans" pitchFamily="34" charset="-120"/>
              </a:rPr>
              <a:t>EMBEDDINGS</a:t>
            </a:r>
            <a:endParaRPr lang="en-US" sz="1000" dirty="0"/>
          </a:p>
        </p:txBody>
      </p:sp>
      <p:sp>
        <p:nvSpPr>
          <p:cNvPr id="13" name="Text 9"/>
          <p:cNvSpPr txBox="1"/>
          <p:nvPr/>
        </p:nvSpPr>
        <p:spPr>
          <a:xfrm>
            <a:off x="3584448" y="2542032"/>
            <a:ext cx="2194560" cy="457200"/>
          </a:xfrm>
          <a:prstGeom prst="rect">
            <a:avLst/>
          </a:prstGeom>
          <a:noFill/>
          <a:ln/>
        </p:spPr>
        <p:txBody>
          <a:bodyPr wrap="square" lIns="0" tIns="0" rIns="0" bIns="0" rtlCol="0" anchor="t"/>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all-MiniLM-L6-v2</a:t>
            </a:r>
            <a:endParaRPr lang="en-US" sz="1400" dirty="0"/>
          </a:p>
        </p:txBody>
      </p:sp>
      <p:sp>
        <p:nvSpPr>
          <p:cNvPr id="14" name="Text 10"/>
          <p:cNvSpPr txBox="1"/>
          <p:nvPr/>
        </p:nvSpPr>
        <p:spPr>
          <a:xfrm>
            <a:off x="3584448" y="2999232"/>
            <a:ext cx="21945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free, local, 384-dim vectors</a:t>
            </a:r>
            <a:endParaRPr lang="en-US" sz="1100" dirty="0"/>
          </a:p>
        </p:txBody>
      </p:sp>
      <p:sp>
        <p:nvSpPr>
          <p:cNvPr id="15" name="tech 2"/>
          <p:cNvSpPr/>
          <p:nvPr/>
        </p:nvSpPr>
        <p:spPr>
          <a:xfrm>
            <a:off x="6163056" y="1371600"/>
            <a:ext cx="2606040" cy="2194560"/>
          </a:xfrm>
          <a:prstGeom prst="roundRect">
            <a:avLst>
              <a:gd name="adj" fmla="val 58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6" name="tech 2 circle"/>
          <p:cNvSpPr/>
          <p:nvPr/>
        </p:nvSpPr>
        <p:spPr>
          <a:xfrm>
            <a:off x="6391656" y="1600200"/>
            <a:ext cx="548640" cy="548640"/>
          </a:xfrm>
          <a:prstGeom prst="ellipse">
            <a:avLst/>
          </a:prstGeom>
          <a:solidFill>
            <a:srgbClr val="E4EFF4"/>
          </a:solidFill>
          <a:ln/>
        </p:spPr>
      </p:sp>
      <p:pic>
        <p:nvPicPr>
          <p:cNvPr id="17" name="tech 2 icon" descr="preencoded.png"/>
          <p:cNvPicPr>
            <a:picLocks noChangeAspect="1"/>
          </p:cNvPicPr>
          <p:nvPr/>
        </p:nvPicPr>
        <p:blipFill>
          <a:blip r:embed="rId5"/>
          <a:stretch>
            <a:fillRect/>
          </a:stretch>
        </p:blipFill>
        <p:spPr>
          <a:xfrm>
            <a:off x="6539789" y="1748333"/>
            <a:ext cx="252374" cy="252374"/>
          </a:xfrm>
          <a:prstGeom prst="rect">
            <a:avLst/>
          </a:prstGeom>
        </p:spPr>
      </p:pic>
      <p:sp>
        <p:nvSpPr>
          <p:cNvPr id="18" name="Text 13"/>
          <p:cNvSpPr txBox="1"/>
          <p:nvPr/>
        </p:nvSpPr>
        <p:spPr>
          <a:xfrm>
            <a:off x="6391656" y="2267712"/>
            <a:ext cx="2194560" cy="274320"/>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Instrument Sans" pitchFamily="34" charset="0"/>
                <a:ea typeface="Instrument Sans" pitchFamily="34" charset="-122"/>
                <a:cs typeface="Instrument Sans" pitchFamily="34" charset="-120"/>
              </a:rPr>
              <a:t>VECTOR DB + KEYWORD</a:t>
            </a:r>
            <a:endParaRPr lang="en-US" sz="1000" dirty="0"/>
          </a:p>
        </p:txBody>
      </p:sp>
      <p:sp>
        <p:nvSpPr>
          <p:cNvPr id="19" name="Text 14"/>
          <p:cNvSpPr txBox="1"/>
          <p:nvPr/>
        </p:nvSpPr>
        <p:spPr>
          <a:xfrm>
            <a:off x="6391656" y="2542032"/>
            <a:ext cx="2194560" cy="457200"/>
          </a:xfrm>
          <a:prstGeom prst="rect">
            <a:avLst/>
          </a:prstGeom>
          <a:noFill/>
          <a:ln/>
        </p:spPr>
        <p:txBody>
          <a:bodyPr wrap="square" lIns="0" tIns="0" rIns="0" bIns="0" rtlCol="0" anchor="t"/>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ChromaDB + BM25</a:t>
            </a:r>
            <a:endParaRPr lang="en-US" sz="1400" dirty="0"/>
          </a:p>
        </p:txBody>
      </p:sp>
      <p:sp>
        <p:nvSpPr>
          <p:cNvPr id="20" name="Text 15"/>
          <p:cNvSpPr txBox="1"/>
          <p:nvPr/>
        </p:nvSpPr>
        <p:spPr>
          <a:xfrm>
            <a:off x="6391656" y="2999232"/>
            <a:ext cx="21945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metadata filters, fused with RRF</a:t>
            </a:r>
            <a:endParaRPr lang="en-US" sz="1100" dirty="0"/>
          </a:p>
        </p:txBody>
      </p:sp>
      <p:sp>
        <p:nvSpPr>
          <p:cNvPr id="21" name="tech 3"/>
          <p:cNvSpPr/>
          <p:nvPr/>
        </p:nvSpPr>
        <p:spPr>
          <a:xfrm>
            <a:off x="8970264" y="1371600"/>
            <a:ext cx="2606040" cy="2194560"/>
          </a:xfrm>
          <a:prstGeom prst="roundRect">
            <a:avLst>
              <a:gd name="adj" fmla="val 58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2" name="tech 3 circle"/>
          <p:cNvSpPr/>
          <p:nvPr/>
        </p:nvSpPr>
        <p:spPr>
          <a:xfrm>
            <a:off x="9198864" y="1600200"/>
            <a:ext cx="548640" cy="548640"/>
          </a:xfrm>
          <a:prstGeom prst="ellipse">
            <a:avLst/>
          </a:prstGeom>
          <a:solidFill>
            <a:srgbClr val="E4EFF4"/>
          </a:solidFill>
          <a:ln/>
        </p:spPr>
      </p:sp>
      <p:pic>
        <p:nvPicPr>
          <p:cNvPr id="23" name="tech 3 icon" descr="preencoded.png"/>
          <p:cNvPicPr>
            <a:picLocks noChangeAspect="1"/>
          </p:cNvPicPr>
          <p:nvPr/>
        </p:nvPicPr>
        <p:blipFill>
          <a:blip r:embed="rId6"/>
          <a:stretch>
            <a:fillRect/>
          </a:stretch>
        </p:blipFill>
        <p:spPr>
          <a:xfrm>
            <a:off x="9346997" y="1748333"/>
            <a:ext cx="252374" cy="252374"/>
          </a:xfrm>
          <a:prstGeom prst="rect">
            <a:avLst/>
          </a:prstGeom>
        </p:spPr>
      </p:pic>
      <p:sp>
        <p:nvSpPr>
          <p:cNvPr id="24" name="Text 18"/>
          <p:cNvSpPr txBox="1"/>
          <p:nvPr/>
        </p:nvSpPr>
        <p:spPr>
          <a:xfrm>
            <a:off x="9198864" y="2267712"/>
            <a:ext cx="2194560" cy="274320"/>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Instrument Sans" pitchFamily="34" charset="0"/>
                <a:ea typeface="Instrument Sans" pitchFamily="34" charset="-122"/>
                <a:cs typeface="Instrument Sans" pitchFamily="34" charset="-120"/>
              </a:rPr>
              <a:t>AGENTS</a:t>
            </a:r>
            <a:endParaRPr lang="en-US" sz="1000" dirty="0"/>
          </a:p>
        </p:txBody>
      </p:sp>
      <p:sp>
        <p:nvSpPr>
          <p:cNvPr id="25" name="Text 19"/>
          <p:cNvSpPr txBox="1"/>
          <p:nvPr/>
        </p:nvSpPr>
        <p:spPr>
          <a:xfrm>
            <a:off x="9198864" y="2542032"/>
            <a:ext cx="2194560" cy="457200"/>
          </a:xfrm>
          <a:prstGeom prst="rect">
            <a:avLst/>
          </a:prstGeom>
          <a:noFill/>
          <a:ln/>
        </p:spPr>
        <p:txBody>
          <a:bodyPr wrap="square" lIns="0" tIns="0" rIns="0" bIns="0" rtlCol="0" anchor="t"/>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LangGraph</a:t>
            </a:r>
            <a:endParaRPr lang="en-US" sz="1400" dirty="0"/>
          </a:p>
        </p:txBody>
      </p:sp>
      <p:sp>
        <p:nvSpPr>
          <p:cNvPr id="26" name="Text 20"/>
          <p:cNvSpPr txBox="1"/>
          <p:nvPr/>
        </p:nvSpPr>
        <p:spPr>
          <a:xfrm>
            <a:off x="9198864" y="2999232"/>
            <a:ext cx="21945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typed state, self-check loop, live streaming</a:t>
            </a:r>
            <a:endParaRPr lang="en-US" sz="1100" dirty="0"/>
          </a:p>
        </p:txBody>
      </p:sp>
      <p:sp>
        <p:nvSpPr>
          <p:cNvPr id="27" name="tech 4"/>
          <p:cNvSpPr/>
          <p:nvPr/>
        </p:nvSpPr>
        <p:spPr>
          <a:xfrm>
            <a:off x="548640" y="3794760"/>
            <a:ext cx="2606040" cy="2194560"/>
          </a:xfrm>
          <a:prstGeom prst="roundRect">
            <a:avLst>
              <a:gd name="adj" fmla="val 58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8" name="tech 4 circle"/>
          <p:cNvSpPr/>
          <p:nvPr/>
        </p:nvSpPr>
        <p:spPr>
          <a:xfrm>
            <a:off x="777240" y="4023360"/>
            <a:ext cx="548640" cy="548640"/>
          </a:xfrm>
          <a:prstGeom prst="ellipse">
            <a:avLst/>
          </a:prstGeom>
          <a:solidFill>
            <a:srgbClr val="E4EFF4"/>
          </a:solidFill>
          <a:ln/>
        </p:spPr>
      </p:sp>
      <p:pic>
        <p:nvPicPr>
          <p:cNvPr id="29" name="tech 4 icon" descr="preencoded.png"/>
          <p:cNvPicPr>
            <a:picLocks noChangeAspect="1"/>
          </p:cNvPicPr>
          <p:nvPr/>
        </p:nvPicPr>
        <p:blipFill>
          <a:blip r:embed="rId7"/>
          <a:stretch>
            <a:fillRect/>
          </a:stretch>
        </p:blipFill>
        <p:spPr>
          <a:xfrm>
            <a:off x="925373" y="4171493"/>
            <a:ext cx="252374" cy="252374"/>
          </a:xfrm>
          <a:prstGeom prst="rect">
            <a:avLst/>
          </a:prstGeom>
        </p:spPr>
      </p:pic>
      <p:sp>
        <p:nvSpPr>
          <p:cNvPr id="30" name="Text 23"/>
          <p:cNvSpPr txBox="1"/>
          <p:nvPr/>
        </p:nvSpPr>
        <p:spPr>
          <a:xfrm>
            <a:off x="777240" y="4690872"/>
            <a:ext cx="2194560" cy="274320"/>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Instrument Sans" pitchFamily="34" charset="0"/>
                <a:ea typeface="Instrument Sans" pitchFamily="34" charset="-122"/>
                <a:cs typeface="Instrument Sans" pitchFamily="34" charset="-120"/>
              </a:rPr>
              <a:t>ML AND EXPLAINABILITY</a:t>
            </a:r>
            <a:endParaRPr lang="en-US" sz="1000" dirty="0"/>
          </a:p>
        </p:txBody>
      </p:sp>
      <p:sp>
        <p:nvSpPr>
          <p:cNvPr id="31" name="Text 24"/>
          <p:cNvSpPr txBox="1"/>
          <p:nvPr/>
        </p:nvSpPr>
        <p:spPr>
          <a:xfrm>
            <a:off x="777240" y="4965192"/>
            <a:ext cx="2194560" cy="457200"/>
          </a:xfrm>
          <a:prstGeom prst="rect">
            <a:avLst/>
          </a:prstGeom>
          <a:noFill/>
          <a:ln/>
        </p:spPr>
        <p:txBody>
          <a:bodyPr wrap="square" lIns="0" tIns="0" rIns="0" bIns="0" rtlCol="0" anchor="t"/>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LightGBM + SHAP</a:t>
            </a:r>
            <a:endParaRPr lang="en-US" sz="1400" dirty="0"/>
          </a:p>
        </p:txBody>
      </p:sp>
      <p:sp>
        <p:nvSpPr>
          <p:cNvPr id="32" name="Text 25"/>
          <p:cNvSpPr txBox="1"/>
          <p:nvPr/>
        </p:nvSpPr>
        <p:spPr>
          <a:xfrm>
            <a:off x="777240" y="5422392"/>
            <a:ext cx="21945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P10 to P90 ranges, per-factor explanations</a:t>
            </a:r>
            <a:endParaRPr lang="en-US" sz="1100" dirty="0"/>
          </a:p>
        </p:txBody>
      </p:sp>
      <p:sp>
        <p:nvSpPr>
          <p:cNvPr id="33" name="tech 5"/>
          <p:cNvSpPr/>
          <p:nvPr/>
        </p:nvSpPr>
        <p:spPr>
          <a:xfrm>
            <a:off x="3355848" y="3794760"/>
            <a:ext cx="2606040" cy="2194560"/>
          </a:xfrm>
          <a:prstGeom prst="roundRect">
            <a:avLst>
              <a:gd name="adj" fmla="val 58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34" name="tech 5 circle"/>
          <p:cNvSpPr/>
          <p:nvPr/>
        </p:nvSpPr>
        <p:spPr>
          <a:xfrm>
            <a:off x="3584448" y="4023360"/>
            <a:ext cx="548640" cy="548640"/>
          </a:xfrm>
          <a:prstGeom prst="ellipse">
            <a:avLst/>
          </a:prstGeom>
          <a:solidFill>
            <a:srgbClr val="E4EFF4"/>
          </a:solidFill>
          <a:ln/>
        </p:spPr>
      </p:sp>
      <p:pic>
        <p:nvPicPr>
          <p:cNvPr id="35" name="tech 5 icon" descr="preencoded.png"/>
          <p:cNvPicPr>
            <a:picLocks noChangeAspect="1"/>
          </p:cNvPicPr>
          <p:nvPr/>
        </p:nvPicPr>
        <p:blipFill>
          <a:blip r:embed="rId8"/>
          <a:stretch>
            <a:fillRect/>
          </a:stretch>
        </p:blipFill>
        <p:spPr>
          <a:xfrm>
            <a:off x="3732581" y="4171493"/>
            <a:ext cx="252374" cy="252374"/>
          </a:xfrm>
          <a:prstGeom prst="rect">
            <a:avLst/>
          </a:prstGeom>
        </p:spPr>
      </p:pic>
      <p:sp>
        <p:nvSpPr>
          <p:cNvPr id="36" name="Text 28"/>
          <p:cNvSpPr txBox="1"/>
          <p:nvPr/>
        </p:nvSpPr>
        <p:spPr>
          <a:xfrm>
            <a:off x="3584448" y="4690872"/>
            <a:ext cx="2194560" cy="274320"/>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Instrument Sans" pitchFamily="34" charset="0"/>
                <a:ea typeface="Instrument Sans" pitchFamily="34" charset="-122"/>
                <a:cs typeface="Instrument Sans" pitchFamily="34" charset="-120"/>
              </a:rPr>
              <a:t>API</a:t>
            </a:r>
            <a:endParaRPr lang="en-US" sz="1000" dirty="0"/>
          </a:p>
        </p:txBody>
      </p:sp>
      <p:sp>
        <p:nvSpPr>
          <p:cNvPr id="37" name="Text 29"/>
          <p:cNvSpPr txBox="1"/>
          <p:nvPr/>
        </p:nvSpPr>
        <p:spPr>
          <a:xfrm>
            <a:off x="3584448" y="4965192"/>
            <a:ext cx="2194560" cy="457200"/>
          </a:xfrm>
          <a:prstGeom prst="rect">
            <a:avLst/>
          </a:prstGeom>
          <a:noFill/>
          <a:ln/>
        </p:spPr>
        <p:txBody>
          <a:bodyPr wrap="square" lIns="0" tIns="0" rIns="0" bIns="0" rtlCol="0" anchor="t"/>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FastAPI + Pydantic</a:t>
            </a:r>
            <a:endParaRPr lang="en-US" sz="1400" dirty="0"/>
          </a:p>
        </p:txBody>
      </p:sp>
      <p:sp>
        <p:nvSpPr>
          <p:cNvPr id="38" name="Text 30"/>
          <p:cNvSpPr txBox="1"/>
          <p:nvPr/>
        </p:nvSpPr>
        <p:spPr>
          <a:xfrm>
            <a:off x="3584448" y="5422392"/>
            <a:ext cx="21945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20 endpoints; validation doubles as guardrails</a:t>
            </a:r>
            <a:endParaRPr lang="en-US" sz="1100" dirty="0"/>
          </a:p>
        </p:txBody>
      </p:sp>
      <p:sp>
        <p:nvSpPr>
          <p:cNvPr id="39" name="tech 6"/>
          <p:cNvSpPr/>
          <p:nvPr/>
        </p:nvSpPr>
        <p:spPr>
          <a:xfrm>
            <a:off x="6163056" y="3794760"/>
            <a:ext cx="2606040" cy="2194560"/>
          </a:xfrm>
          <a:prstGeom prst="roundRect">
            <a:avLst>
              <a:gd name="adj" fmla="val 58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0" name="tech 6 circle"/>
          <p:cNvSpPr/>
          <p:nvPr/>
        </p:nvSpPr>
        <p:spPr>
          <a:xfrm>
            <a:off x="6391656" y="4023360"/>
            <a:ext cx="548640" cy="548640"/>
          </a:xfrm>
          <a:prstGeom prst="ellipse">
            <a:avLst/>
          </a:prstGeom>
          <a:solidFill>
            <a:srgbClr val="E4EFF4"/>
          </a:solidFill>
          <a:ln/>
        </p:spPr>
      </p:sp>
      <p:pic>
        <p:nvPicPr>
          <p:cNvPr id="41" name="tech 6 icon" descr="preencoded.png"/>
          <p:cNvPicPr>
            <a:picLocks noChangeAspect="1"/>
          </p:cNvPicPr>
          <p:nvPr/>
        </p:nvPicPr>
        <p:blipFill>
          <a:blip r:embed="rId9"/>
          <a:stretch>
            <a:fillRect/>
          </a:stretch>
        </p:blipFill>
        <p:spPr>
          <a:xfrm>
            <a:off x="6539789" y="4171493"/>
            <a:ext cx="252374" cy="252374"/>
          </a:xfrm>
          <a:prstGeom prst="rect">
            <a:avLst/>
          </a:prstGeom>
        </p:spPr>
      </p:pic>
      <p:sp>
        <p:nvSpPr>
          <p:cNvPr id="42" name="Text 33"/>
          <p:cNvSpPr txBox="1"/>
          <p:nvPr/>
        </p:nvSpPr>
        <p:spPr>
          <a:xfrm>
            <a:off x="6391656" y="4690872"/>
            <a:ext cx="2194560" cy="274320"/>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Instrument Sans" pitchFamily="34" charset="0"/>
                <a:ea typeface="Instrument Sans" pitchFamily="34" charset="-122"/>
                <a:cs typeface="Instrument Sans" pitchFamily="34" charset="-120"/>
              </a:rPr>
              <a:t>FRONT END</a:t>
            </a:r>
            <a:endParaRPr lang="en-US" sz="1000" dirty="0"/>
          </a:p>
        </p:txBody>
      </p:sp>
      <p:sp>
        <p:nvSpPr>
          <p:cNvPr id="43" name="Text 34"/>
          <p:cNvSpPr txBox="1"/>
          <p:nvPr/>
        </p:nvSpPr>
        <p:spPr>
          <a:xfrm>
            <a:off x="6391656" y="4965192"/>
            <a:ext cx="2194560" cy="457200"/>
          </a:xfrm>
          <a:prstGeom prst="rect">
            <a:avLst/>
          </a:prstGeom>
          <a:noFill/>
          <a:ln/>
        </p:spPr>
        <p:txBody>
          <a:bodyPr wrap="square" lIns="0" tIns="0" rIns="0" bIns="0" rtlCol="0" anchor="t"/>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React + Streamlit</a:t>
            </a:r>
            <a:endParaRPr lang="en-US" sz="1400" dirty="0"/>
          </a:p>
        </p:txBody>
      </p:sp>
      <p:sp>
        <p:nvSpPr>
          <p:cNvPr id="44" name="Text 35"/>
          <p:cNvSpPr txBox="1"/>
          <p:nvPr/>
        </p:nvSpPr>
        <p:spPr>
          <a:xfrm>
            <a:off x="6391656" y="5422392"/>
            <a:ext cx="21945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React (Vite, TypeScript) dashboard; both use one API</a:t>
            </a:r>
            <a:endParaRPr lang="en-US" sz="1100" dirty="0"/>
          </a:p>
        </p:txBody>
      </p:sp>
      <p:sp>
        <p:nvSpPr>
          <p:cNvPr id="45" name="tech 7"/>
          <p:cNvSpPr/>
          <p:nvPr/>
        </p:nvSpPr>
        <p:spPr>
          <a:xfrm>
            <a:off x="8970264" y="3794760"/>
            <a:ext cx="2606040" cy="2194560"/>
          </a:xfrm>
          <a:prstGeom prst="roundRect">
            <a:avLst>
              <a:gd name="adj" fmla="val 5833"/>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6" name="tech 7 circle"/>
          <p:cNvSpPr/>
          <p:nvPr/>
        </p:nvSpPr>
        <p:spPr>
          <a:xfrm>
            <a:off x="9198864" y="4023360"/>
            <a:ext cx="548640" cy="548640"/>
          </a:xfrm>
          <a:prstGeom prst="ellipse">
            <a:avLst/>
          </a:prstGeom>
          <a:solidFill>
            <a:srgbClr val="E4EFF4"/>
          </a:solidFill>
          <a:ln/>
        </p:spPr>
      </p:sp>
      <p:pic>
        <p:nvPicPr>
          <p:cNvPr id="47" name="tech 7 icon" descr="preencoded.png"/>
          <p:cNvPicPr>
            <a:picLocks noChangeAspect="1"/>
          </p:cNvPicPr>
          <p:nvPr/>
        </p:nvPicPr>
        <p:blipFill>
          <a:blip r:embed="rId10"/>
          <a:stretch>
            <a:fillRect/>
          </a:stretch>
        </p:blipFill>
        <p:spPr>
          <a:xfrm>
            <a:off x="9346997" y="4171493"/>
            <a:ext cx="252374" cy="252374"/>
          </a:xfrm>
          <a:prstGeom prst="rect">
            <a:avLst/>
          </a:prstGeom>
        </p:spPr>
      </p:pic>
      <p:sp>
        <p:nvSpPr>
          <p:cNvPr id="48" name="Text 38"/>
          <p:cNvSpPr txBox="1"/>
          <p:nvPr/>
        </p:nvSpPr>
        <p:spPr>
          <a:xfrm>
            <a:off x="9198864" y="4690872"/>
            <a:ext cx="2194560" cy="274320"/>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Instrument Sans" pitchFamily="34" charset="0"/>
                <a:ea typeface="Instrument Sans" pitchFamily="34" charset="-122"/>
                <a:cs typeface="Instrument Sans" pitchFamily="34" charset="-120"/>
              </a:rPr>
              <a:t>EVALUATION</a:t>
            </a:r>
            <a:endParaRPr lang="en-US" sz="1000" dirty="0"/>
          </a:p>
        </p:txBody>
      </p:sp>
      <p:sp>
        <p:nvSpPr>
          <p:cNvPr id="49" name="Text 39"/>
          <p:cNvSpPr txBox="1"/>
          <p:nvPr/>
        </p:nvSpPr>
        <p:spPr>
          <a:xfrm>
            <a:off x="9198864" y="4965192"/>
            <a:ext cx="2194560" cy="457200"/>
          </a:xfrm>
          <a:prstGeom prst="rect">
            <a:avLst/>
          </a:prstGeom>
          <a:noFill/>
          <a:ln/>
        </p:spPr>
        <p:txBody>
          <a:bodyPr wrap="square" lIns="0" tIns="0" rIns="0" bIns="0" rtlCol="0" anchor="t"/>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DeepEval · RAGAS · pytest</a:t>
            </a:r>
            <a:endParaRPr lang="en-US" sz="1400" dirty="0"/>
          </a:p>
        </p:txBody>
      </p:sp>
      <p:sp>
        <p:nvSpPr>
          <p:cNvPr id="50" name="Text 40"/>
          <p:cNvSpPr txBox="1"/>
          <p:nvPr/>
        </p:nvSpPr>
        <p:spPr>
          <a:xfrm>
            <a:off x="9198864" y="5422392"/>
            <a:ext cx="2194560" cy="50292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LLM metrics plus 74 offline tests</a:t>
            </a:r>
            <a:endParaRPr lang="en-US" sz="1100" dirty="0"/>
          </a:p>
        </p:txBody>
      </p:sp>
      <p:sp>
        <p:nvSpPr>
          <p:cNvPr id="51"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Bricolage Grotesque" pitchFamily="34" charset="0"/>
                <a:ea typeface="Bricolage Grotesque" pitchFamily="34" charset="-122"/>
                <a:cs typeface="Bricolage Grotesque" pitchFamily="34" charset="-120"/>
              </a:rPr>
              <a:t>Evaluation results</a:t>
            </a:r>
            <a:endParaRPr lang="en-US" sz="3200" dirty="0"/>
          </a:p>
        </p:txBody>
      </p:sp>
      <p:sp>
        <p:nvSpPr>
          <p:cNvPr id="3" name="result 0"/>
          <p:cNvSpPr/>
          <p:nvPr/>
        </p:nvSpPr>
        <p:spPr>
          <a:xfrm>
            <a:off x="548640" y="1325880"/>
            <a:ext cx="3520440" cy="1600200"/>
          </a:xfrm>
          <a:prstGeom prst="roundRect">
            <a:avLst>
              <a:gd name="adj" fmla="val 8000"/>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 name="Text 2"/>
          <p:cNvSpPr txBox="1"/>
          <p:nvPr/>
        </p:nvSpPr>
        <p:spPr>
          <a:xfrm>
            <a:off x="777240" y="1463040"/>
            <a:ext cx="3108960" cy="594360"/>
          </a:xfrm>
          <a:prstGeom prst="rect">
            <a:avLst/>
          </a:prstGeom>
          <a:noFill/>
          <a:ln/>
        </p:spPr>
        <p:txBody>
          <a:bodyPr wrap="square" lIns="0" tIns="0" rIns="0" bIns="0" rtlCol="0" anchor="ctr"/>
          <a:lstStyle/>
          <a:p>
            <a:pPr marL="0" indent="0">
              <a:buNone/>
            </a:pPr>
            <a:r>
              <a:rPr lang="en-US" sz="3000" b="1" dirty="0">
                <a:solidFill>
                  <a:schemeClr val="accent1"/>
                </a:solidFill>
                <a:latin typeface="Bricolage Grotesque" pitchFamily="34" charset="0"/>
                <a:ea typeface="Bricolage Grotesque" pitchFamily="34" charset="-122"/>
                <a:cs typeface="Bricolage Grotesque" pitchFamily="34" charset="-120"/>
              </a:rPr>
              <a:t>100%</a:t>
            </a:r>
            <a:endParaRPr lang="en-US" sz="3000" dirty="0"/>
          </a:p>
        </p:txBody>
      </p:sp>
      <p:sp>
        <p:nvSpPr>
          <p:cNvPr id="5" name="Text 3"/>
          <p:cNvSpPr txBox="1"/>
          <p:nvPr/>
        </p:nvSpPr>
        <p:spPr>
          <a:xfrm>
            <a:off x="777240" y="2057400"/>
            <a:ext cx="3108960" cy="320040"/>
          </a:xfrm>
          <a:prstGeom prst="rect">
            <a:avLst/>
          </a:prstGeom>
          <a:noFill/>
          <a:ln/>
        </p:spPr>
        <p:txBody>
          <a:bodyPr wrap="square" lIns="0" tIns="0" rIns="0" bIns="0" rtlCol="0" anchor="ctr"/>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Classification</a:t>
            </a:r>
            <a:endParaRPr lang="en-US" sz="1400" dirty="0"/>
          </a:p>
        </p:txBody>
      </p:sp>
      <p:sp>
        <p:nvSpPr>
          <p:cNvPr id="6" name="Text 4"/>
          <p:cNvSpPr txBox="1"/>
          <p:nvPr/>
        </p:nvSpPr>
        <p:spPr>
          <a:xfrm>
            <a:off x="777240" y="2377440"/>
            <a:ext cx="3108960" cy="45720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type, industry, region, tier and backup on 30 scenarios (Claude)</a:t>
            </a:r>
            <a:endParaRPr lang="en-US" sz="1100" dirty="0"/>
          </a:p>
        </p:txBody>
      </p:sp>
      <p:sp>
        <p:nvSpPr>
          <p:cNvPr id="7" name="result 1"/>
          <p:cNvSpPr/>
          <p:nvPr/>
        </p:nvSpPr>
        <p:spPr>
          <a:xfrm>
            <a:off x="4297680" y="1325880"/>
            <a:ext cx="3520440" cy="1600200"/>
          </a:xfrm>
          <a:prstGeom prst="roundRect">
            <a:avLst>
              <a:gd name="adj" fmla="val 8000"/>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8" name="Text 6"/>
          <p:cNvSpPr txBox="1"/>
          <p:nvPr/>
        </p:nvSpPr>
        <p:spPr>
          <a:xfrm>
            <a:off x="4526280" y="1463040"/>
            <a:ext cx="3108960" cy="594360"/>
          </a:xfrm>
          <a:prstGeom prst="rect">
            <a:avLst/>
          </a:prstGeom>
          <a:noFill/>
          <a:ln/>
        </p:spPr>
        <p:txBody>
          <a:bodyPr wrap="square" lIns="0" tIns="0" rIns="0" bIns="0" rtlCol="0" anchor="ctr"/>
          <a:lstStyle/>
          <a:p>
            <a:pPr marL="0" indent="0">
              <a:buNone/>
            </a:pPr>
            <a:r>
              <a:rPr lang="en-US" sz="3000" b="1" dirty="0">
                <a:solidFill>
                  <a:schemeClr val="accent1"/>
                </a:solidFill>
                <a:latin typeface="Bricolage Grotesque" pitchFamily="34" charset="0"/>
                <a:ea typeface="Bricolage Grotesque" pitchFamily="34" charset="-122"/>
                <a:cs typeface="Bricolage Grotesque" pitchFamily="34" charset="-120"/>
              </a:rPr>
              <a:t>0.92</a:t>
            </a:r>
            <a:endParaRPr lang="en-US" sz="3000" dirty="0"/>
          </a:p>
        </p:txBody>
      </p:sp>
      <p:sp>
        <p:nvSpPr>
          <p:cNvPr id="9" name="Text 7"/>
          <p:cNvSpPr txBox="1"/>
          <p:nvPr/>
        </p:nvSpPr>
        <p:spPr>
          <a:xfrm>
            <a:off x="4526280" y="2057400"/>
            <a:ext cx="3108960" cy="320040"/>
          </a:xfrm>
          <a:prstGeom prst="rect">
            <a:avLst/>
          </a:prstGeom>
          <a:noFill/>
          <a:ln/>
        </p:spPr>
        <p:txBody>
          <a:bodyPr wrap="square" lIns="0" tIns="0" rIns="0" bIns="0" rtlCol="0" anchor="ctr"/>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Retrieval Precision@10</a:t>
            </a:r>
            <a:endParaRPr lang="en-US" sz="1400" dirty="0"/>
          </a:p>
        </p:txBody>
      </p:sp>
      <p:sp>
        <p:nvSpPr>
          <p:cNvPr id="10" name="Text 8"/>
          <p:cNvSpPr txBox="1"/>
          <p:nvPr/>
        </p:nvSpPr>
        <p:spPr>
          <a:xfrm>
            <a:off x="4526280" y="2377440"/>
            <a:ext cx="3108960" cy="45720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with automatic filters, 30 golden scenarios</a:t>
            </a:r>
            <a:endParaRPr lang="en-US" sz="1100" dirty="0"/>
          </a:p>
        </p:txBody>
      </p:sp>
      <p:sp>
        <p:nvSpPr>
          <p:cNvPr id="11" name="result 2"/>
          <p:cNvSpPr/>
          <p:nvPr/>
        </p:nvSpPr>
        <p:spPr>
          <a:xfrm>
            <a:off x="8046720" y="1325880"/>
            <a:ext cx="3520440" cy="1600200"/>
          </a:xfrm>
          <a:prstGeom prst="roundRect">
            <a:avLst>
              <a:gd name="adj" fmla="val 8000"/>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2" name="Text 10"/>
          <p:cNvSpPr txBox="1"/>
          <p:nvPr/>
        </p:nvSpPr>
        <p:spPr>
          <a:xfrm>
            <a:off x="8275320" y="1463040"/>
            <a:ext cx="3108960" cy="594360"/>
          </a:xfrm>
          <a:prstGeom prst="rect">
            <a:avLst/>
          </a:prstGeom>
          <a:noFill/>
          <a:ln/>
        </p:spPr>
        <p:txBody>
          <a:bodyPr wrap="square" lIns="0" tIns="0" rIns="0" bIns="0" rtlCol="0" anchor="ctr"/>
          <a:lstStyle/>
          <a:p>
            <a:pPr marL="0" indent="0">
              <a:buNone/>
            </a:pPr>
            <a:r>
              <a:rPr lang="en-US" sz="3000" b="1" dirty="0">
                <a:solidFill>
                  <a:schemeClr val="accent1"/>
                </a:solidFill>
                <a:latin typeface="Bricolage Grotesque" pitchFamily="34" charset="0"/>
                <a:ea typeface="Bricolage Grotesque" pitchFamily="34" charset="-122"/>
                <a:cs typeface="Bricolage Grotesque" pitchFamily="34" charset="-120"/>
              </a:rPr>
              <a:t>0.92</a:t>
            </a:r>
            <a:endParaRPr lang="en-US" sz="3000" dirty="0"/>
          </a:p>
        </p:txBody>
      </p:sp>
      <p:sp>
        <p:nvSpPr>
          <p:cNvPr id="13" name="Text 11"/>
          <p:cNvSpPr txBox="1"/>
          <p:nvPr/>
        </p:nvSpPr>
        <p:spPr>
          <a:xfrm>
            <a:off x="8275320" y="2057400"/>
            <a:ext cx="3108960" cy="320040"/>
          </a:xfrm>
          <a:prstGeom prst="rect">
            <a:avLst/>
          </a:prstGeom>
          <a:noFill/>
          <a:ln/>
        </p:spPr>
        <p:txBody>
          <a:bodyPr wrap="square" lIns="0" tIns="0" rIns="0" bIns="0" rtlCol="0" anchor="ctr"/>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High-impact detection</a:t>
            </a:r>
            <a:endParaRPr lang="en-US" sz="1400" dirty="0"/>
          </a:p>
        </p:txBody>
      </p:sp>
      <p:sp>
        <p:nvSpPr>
          <p:cNvPr id="14" name="Text 12"/>
          <p:cNvSpPr txBox="1"/>
          <p:nvPr/>
        </p:nvSpPr>
        <p:spPr>
          <a:xfrm>
            <a:off x="8275320" y="2377440"/>
            <a:ext cx="3108960" cy="45720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ROC-AUC on 20,000 held-out disruptions</a:t>
            </a:r>
            <a:endParaRPr lang="en-US" sz="1100" dirty="0"/>
          </a:p>
        </p:txBody>
      </p:sp>
      <p:sp>
        <p:nvSpPr>
          <p:cNvPr id="15" name="result 3"/>
          <p:cNvSpPr/>
          <p:nvPr/>
        </p:nvSpPr>
        <p:spPr>
          <a:xfrm>
            <a:off x="548640" y="3108960"/>
            <a:ext cx="3520440" cy="1600200"/>
          </a:xfrm>
          <a:prstGeom prst="roundRect">
            <a:avLst>
              <a:gd name="adj" fmla="val 8000"/>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6" name="Text 14"/>
          <p:cNvSpPr txBox="1"/>
          <p:nvPr/>
        </p:nvSpPr>
        <p:spPr>
          <a:xfrm>
            <a:off x="777240" y="3246120"/>
            <a:ext cx="3108960" cy="594360"/>
          </a:xfrm>
          <a:prstGeom prst="rect">
            <a:avLst/>
          </a:prstGeom>
          <a:noFill/>
          <a:ln/>
        </p:spPr>
        <p:txBody>
          <a:bodyPr wrap="square" lIns="0" tIns="0" rIns="0" bIns="0" rtlCol="0" anchor="ctr"/>
          <a:lstStyle/>
          <a:p>
            <a:pPr marL="0" indent="0">
              <a:buNone/>
            </a:pPr>
            <a:r>
              <a:rPr lang="en-US" sz="3000" b="1" dirty="0">
                <a:solidFill>
                  <a:schemeClr val="accent1"/>
                </a:solidFill>
                <a:latin typeface="Bricolage Grotesque" pitchFamily="34" charset="0"/>
                <a:ea typeface="Bricolage Grotesque" pitchFamily="34" charset="-122"/>
                <a:cs typeface="Bricolage Grotesque" pitchFamily="34" charset="-120"/>
              </a:rPr>
              <a:t>0.70</a:t>
            </a:r>
            <a:endParaRPr lang="en-US" sz="3000" dirty="0"/>
          </a:p>
        </p:txBody>
      </p:sp>
      <p:sp>
        <p:nvSpPr>
          <p:cNvPr id="17" name="Text 15"/>
          <p:cNvSpPr txBox="1"/>
          <p:nvPr/>
        </p:nvSpPr>
        <p:spPr>
          <a:xfrm>
            <a:off x="777240" y="3840480"/>
            <a:ext cx="3108960" cy="320040"/>
          </a:xfrm>
          <a:prstGeom prst="rect">
            <a:avLst/>
          </a:prstGeom>
          <a:noFill/>
          <a:ln/>
        </p:spPr>
        <p:txBody>
          <a:bodyPr wrap="square" lIns="0" tIns="0" rIns="0" bIns="0" rtlCol="0" anchor="ctr"/>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Production impact R²</a:t>
            </a:r>
            <a:endParaRPr lang="en-US" sz="1400" dirty="0"/>
          </a:p>
        </p:txBody>
      </p:sp>
      <p:sp>
        <p:nvSpPr>
          <p:cNvPr id="18" name="Text 16"/>
          <p:cNvSpPr txBox="1"/>
          <p:nvPr/>
        </p:nvSpPr>
        <p:spPr>
          <a:xfrm>
            <a:off x="777240" y="4160520"/>
            <a:ext cx="3108960" cy="45720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off by 7.8 points on average vs 14.3 for guessing</a:t>
            </a:r>
            <a:endParaRPr lang="en-US" sz="1100" dirty="0"/>
          </a:p>
        </p:txBody>
      </p:sp>
      <p:sp>
        <p:nvSpPr>
          <p:cNvPr id="19" name="result 4"/>
          <p:cNvSpPr/>
          <p:nvPr/>
        </p:nvSpPr>
        <p:spPr>
          <a:xfrm>
            <a:off x="4297680" y="3108960"/>
            <a:ext cx="3520440" cy="1600200"/>
          </a:xfrm>
          <a:prstGeom prst="roundRect">
            <a:avLst>
              <a:gd name="adj" fmla="val 8000"/>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0" name="Text 18"/>
          <p:cNvSpPr txBox="1"/>
          <p:nvPr/>
        </p:nvSpPr>
        <p:spPr>
          <a:xfrm>
            <a:off x="4526280" y="3246120"/>
            <a:ext cx="3108960" cy="594360"/>
          </a:xfrm>
          <a:prstGeom prst="rect">
            <a:avLst/>
          </a:prstGeom>
          <a:noFill/>
          <a:ln/>
        </p:spPr>
        <p:txBody>
          <a:bodyPr wrap="square" lIns="0" tIns="0" rIns="0" bIns="0" rtlCol="0" anchor="ctr"/>
          <a:lstStyle/>
          <a:p>
            <a:pPr marL="0" indent="0">
              <a:buNone/>
            </a:pPr>
            <a:r>
              <a:rPr lang="en-US" sz="3000" b="1" dirty="0">
                <a:solidFill>
                  <a:schemeClr val="accent1"/>
                </a:solidFill>
                <a:latin typeface="Bricolage Grotesque" pitchFamily="34" charset="0"/>
                <a:ea typeface="Bricolage Grotesque" pitchFamily="34" charset="-122"/>
                <a:cs typeface="Bricolage Grotesque" pitchFamily="34" charset="-120"/>
              </a:rPr>
              <a:t>1.00</a:t>
            </a:r>
            <a:endParaRPr lang="en-US" sz="3000" dirty="0"/>
          </a:p>
        </p:txBody>
      </p:sp>
      <p:sp>
        <p:nvSpPr>
          <p:cNvPr id="21" name="Text 19"/>
          <p:cNvSpPr txBox="1"/>
          <p:nvPr/>
        </p:nvSpPr>
        <p:spPr>
          <a:xfrm>
            <a:off x="4526280" y="3840480"/>
            <a:ext cx="3108960" cy="320040"/>
          </a:xfrm>
          <a:prstGeom prst="rect">
            <a:avLst/>
          </a:prstGeom>
          <a:noFill/>
          <a:ln/>
        </p:spPr>
        <p:txBody>
          <a:bodyPr wrap="square" lIns="0" tIns="0" rIns="0" bIns="0" rtlCol="0" anchor="ctr"/>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DeepEval faithfulness</a:t>
            </a:r>
            <a:endParaRPr lang="en-US" sz="1400" dirty="0"/>
          </a:p>
        </p:txBody>
      </p:sp>
      <p:sp>
        <p:nvSpPr>
          <p:cNvPr id="22" name="Text 20"/>
          <p:cNvSpPr txBox="1"/>
          <p:nvPr/>
        </p:nvSpPr>
        <p:spPr>
          <a:xfrm>
            <a:off x="4526280" y="4160520"/>
            <a:ext cx="3108960" cy="45720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and answer relevancy 1.00 on 10 full plans</a:t>
            </a:r>
            <a:endParaRPr lang="en-US" sz="1100" dirty="0"/>
          </a:p>
        </p:txBody>
      </p:sp>
      <p:sp>
        <p:nvSpPr>
          <p:cNvPr id="23" name="result 5"/>
          <p:cNvSpPr/>
          <p:nvPr/>
        </p:nvSpPr>
        <p:spPr>
          <a:xfrm>
            <a:off x="8046720" y="3108960"/>
            <a:ext cx="3520440" cy="1600200"/>
          </a:xfrm>
          <a:prstGeom prst="roundRect">
            <a:avLst>
              <a:gd name="adj" fmla="val 8000"/>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4" name="Text 22"/>
          <p:cNvSpPr txBox="1"/>
          <p:nvPr/>
        </p:nvSpPr>
        <p:spPr>
          <a:xfrm>
            <a:off x="8275320" y="3246120"/>
            <a:ext cx="3108960" cy="594360"/>
          </a:xfrm>
          <a:prstGeom prst="rect">
            <a:avLst/>
          </a:prstGeom>
          <a:noFill/>
          <a:ln/>
        </p:spPr>
        <p:txBody>
          <a:bodyPr wrap="square" lIns="0" tIns="0" rIns="0" bIns="0" rtlCol="0" anchor="ctr"/>
          <a:lstStyle/>
          <a:p>
            <a:pPr marL="0" indent="0">
              <a:buNone/>
            </a:pPr>
            <a:r>
              <a:rPr lang="en-US" sz="3000" b="1" dirty="0">
                <a:solidFill>
                  <a:srgbClr val="9A6A00"/>
                </a:solidFill>
                <a:latin typeface="Bricolage Grotesque" pitchFamily="34" charset="0"/>
                <a:ea typeface="Bricolage Grotesque" pitchFamily="34" charset="-122"/>
                <a:cs typeface="Bricolage Grotesque" pitchFamily="34" charset="-120"/>
              </a:rPr>
              <a:t>3.92 / 5</a:t>
            </a:r>
            <a:endParaRPr lang="en-US" sz="3000" dirty="0"/>
          </a:p>
        </p:txBody>
      </p:sp>
      <p:sp>
        <p:nvSpPr>
          <p:cNvPr id="25" name="Text 23"/>
          <p:cNvSpPr txBox="1"/>
          <p:nvPr/>
        </p:nvSpPr>
        <p:spPr>
          <a:xfrm>
            <a:off x="8275320" y="3840480"/>
            <a:ext cx="3108960" cy="320040"/>
          </a:xfrm>
          <a:prstGeom prst="rect">
            <a:avLst/>
          </a:prstGeom>
          <a:noFill/>
          <a:ln/>
        </p:spPr>
        <p:txBody>
          <a:bodyPr wrap="square" lIns="0" tIns="0" rIns="0" bIns="0" rtlCol="0" anchor="ctr"/>
          <a:lstStyle/>
          <a:p>
            <a:pPr marL="0" indent="0">
              <a:buNone/>
            </a:pPr>
            <a:r>
              <a:rPr lang="en-US" sz="1400" b="1" dirty="0">
                <a:solidFill>
                  <a:schemeClr val="tx1"/>
                </a:solidFill>
                <a:latin typeface="Instrument Sans" pitchFamily="34" charset="0"/>
                <a:ea typeface="Instrument Sans" pitchFamily="34" charset="-122"/>
                <a:cs typeface="Instrument Sans" pitchFamily="34" charset="-120"/>
              </a:rPr>
              <a:t>LLM judge</a:t>
            </a:r>
            <a:endParaRPr lang="en-US" sz="1400" dirty="0"/>
          </a:p>
        </p:txBody>
      </p:sp>
      <p:sp>
        <p:nvSpPr>
          <p:cNvPr id="26" name="Text 24"/>
          <p:cNvSpPr txBox="1"/>
          <p:nvPr/>
        </p:nvSpPr>
        <p:spPr>
          <a:xfrm>
            <a:off x="8275320" y="4160520"/>
            <a:ext cx="3108960" cy="457200"/>
          </a:xfrm>
          <a:prstGeom prst="rect">
            <a:avLst/>
          </a:prstGeom>
          <a:noFill/>
          <a:ln/>
        </p:spPr>
        <p:txBody>
          <a:bodyPr wrap="square" lIns="0" tIns="0" rIns="0" bIns="0" rtlCol="0" anchor="t"/>
          <a:lstStyle/>
          <a:p>
            <a:pPr marL="0" indent="0">
              <a:buNone/>
            </a:pPr>
            <a:r>
              <a:rPr lang="en-US" sz="1100" dirty="0">
                <a:solidFill>
                  <a:schemeClr val="accent6"/>
                </a:solidFill>
                <a:latin typeface="Instrument Sans" pitchFamily="34" charset="0"/>
                <a:ea typeface="Instrument Sans" pitchFamily="34" charset="-122"/>
                <a:cs typeface="Instrument Sans" pitchFamily="34" charset="-120"/>
              </a:rPr>
              <a:t>10 of 10 scenarios pass; scored by Claude Sonnet 5.5</a:t>
            </a:r>
            <a:endParaRPr lang="en-US" sz="1100" dirty="0"/>
          </a:p>
        </p:txBody>
      </p:sp>
      <p:sp>
        <p:nvSpPr>
          <p:cNvPr id="27" name="weaker card"/>
          <p:cNvSpPr/>
          <p:nvPr/>
        </p:nvSpPr>
        <p:spPr>
          <a:xfrm>
            <a:off x="548640" y="4937760"/>
            <a:ext cx="11064240" cy="1234440"/>
          </a:xfrm>
          <a:prstGeom prst="roundRect">
            <a:avLst>
              <a:gd name="adj" fmla="val 10370"/>
            </a:avLst>
          </a:prstGeom>
          <a:solidFill>
            <a:srgbClr val="FDF3DA"/>
          </a:solidFill>
          <a:ln w="9525">
            <a:solidFill>
              <a:srgbClr val="DCE3E8"/>
            </a:solidFill>
            <a:prstDash val="solid"/>
          </a:ln>
          <a:effectLst>
            <a:outerShdw blurRad="127000" dist="25400" dir="5400000" algn="bl" rotWithShape="0">
              <a:srgbClr val="0F1F2E">
                <a:alpha val="10000"/>
              </a:srgbClr>
            </a:outerShdw>
          </a:effectLst>
        </p:spPr>
      </p:sp>
      <p:sp>
        <p:nvSpPr>
          <p:cNvPr id="28" name="weaker circle"/>
          <p:cNvSpPr/>
          <p:nvPr/>
        </p:nvSpPr>
        <p:spPr>
          <a:xfrm>
            <a:off x="777240" y="5138928"/>
            <a:ext cx="548640" cy="548640"/>
          </a:xfrm>
          <a:prstGeom prst="ellipse">
            <a:avLst/>
          </a:prstGeom>
          <a:solidFill>
            <a:srgbClr val="FFFFFF"/>
          </a:solidFill>
          <a:ln/>
        </p:spPr>
      </p:sp>
      <p:pic>
        <p:nvPicPr>
          <p:cNvPr id="29" name="weaker icon" descr="preencoded.png"/>
          <p:cNvPicPr>
            <a:picLocks noChangeAspect="1"/>
          </p:cNvPicPr>
          <p:nvPr/>
        </p:nvPicPr>
        <p:blipFill>
          <a:blip r:embed="rId3"/>
          <a:stretch>
            <a:fillRect/>
          </a:stretch>
        </p:blipFill>
        <p:spPr>
          <a:xfrm>
            <a:off x="925373" y="5287061"/>
            <a:ext cx="252374" cy="252374"/>
          </a:xfrm>
          <a:prstGeom prst="rect">
            <a:avLst/>
          </a:prstGeom>
        </p:spPr>
      </p:pic>
      <p:sp>
        <p:nvSpPr>
          <p:cNvPr id="30" name="Text 27"/>
          <p:cNvSpPr txBox="1"/>
          <p:nvPr/>
        </p:nvSpPr>
        <p:spPr>
          <a:xfrm>
            <a:off x="1508760" y="5074920"/>
            <a:ext cx="9875520" cy="365760"/>
          </a:xfrm>
          <a:prstGeom prst="rect">
            <a:avLst/>
          </a:prstGeom>
          <a:noFill/>
          <a:ln/>
        </p:spPr>
        <p:txBody>
          <a:bodyPr wrap="square" lIns="0" tIns="0" rIns="0" bIns="0" rtlCol="0" anchor="ctr"/>
          <a:lstStyle/>
          <a:p>
            <a:pPr marL="0" indent="0">
              <a:buNone/>
            </a:pPr>
            <a:r>
              <a:rPr lang="en-US" sz="1400" b="1" dirty="0">
                <a:solidFill>
                  <a:srgbClr val="6B4B00"/>
                </a:solidFill>
                <a:latin typeface="Instrument Sans" pitchFamily="34" charset="0"/>
                <a:ea typeface="Instrument Sans" pitchFamily="34" charset="-122"/>
                <a:cs typeface="Instrument Sans" pitchFamily="34" charset="-120"/>
              </a:rPr>
              <a:t>Where it is weaker: RAGAS faithfulness</a:t>
            </a:r>
            <a:endParaRPr lang="en-US" sz="1400" dirty="0"/>
          </a:p>
        </p:txBody>
      </p:sp>
      <p:sp>
        <p:nvSpPr>
          <p:cNvPr id="31" name="Text 28"/>
          <p:cNvSpPr txBox="1"/>
          <p:nvPr/>
        </p:nvSpPr>
        <p:spPr>
          <a:xfrm>
            <a:off x="1508760" y="5440680"/>
            <a:ext cx="9921240" cy="685800"/>
          </a:xfrm>
          <a:prstGeom prst="rect">
            <a:avLst/>
          </a:prstGeom>
          <a:noFill/>
          <a:ln/>
        </p:spPr>
        <p:txBody>
          <a:bodyPr wrap="square" lIns="0" tIns="0" rIns="0" bIns="0" rtlCol="0" anchor="t"/>
          <a:lstStyle/>
          <a:p>
            <a:pPr marL="0" indent="0">
              <a:buNone/>
            </a:pPr>
            <a:r>
              <a:rPr lang="en-US" sz="1200" dirty="0">
                <a:solidFill>
                  <a:srgbClr val="6B4B00"/>
                </a:solidFill>
                <a:latin typeface="Instrument Sans" pitchFamily="34" charset="0"/>
                <a:ea typeface="Instrument Sans" pitchFamily="34" charset="-122"/>
                <a:cs typeface="Instrument Sans" pitchFamily="34" charset="-120"/>
              </a:rPr>
              <a:t>RAGAS faithfulness is 0.42 when it grades the whole plan, because RAGAS treats every action step (“open a daily call with the supplier”) as a factual claim that the evidence cannot support. Graded on the explanation alone, the part that makes factual claims, it scores 0.86.</a:t>
            </a:r>
            <a:endParaRPr lang="en-US" sz="1200" dirty="0"/>
          </a:p>
        </p:txBody>
      </p:sp>
      <p:sp>
        <p:nvSpPr>
          <p:cNvPr id="32"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Bricolage Grotesque" pitchFamily="34" charset="0"/>
                <a:ea typeface="Bricolage Grotesque" pitchFamily="34" charset="-122"/>
                <a:cs typeface="Bricolage Grotesque" pitchFamily="34" charset="-120"/>
              </a:rPr>
              <a:t>Challenges and learnings</a:t>
            </a:r>
            <a:endParaRPr lang="en-US" sz="3200" dirty="0"/>
          </a:p>
        </p:txBody>
      </p:sp>
      <p:sp>
        <p:nvSpPr>
          <p:cNvPr id="3" name="Text 1"/>
          <p:cNvSpPr txBox="1"/>
          <p:nvPr/>
        </p:nvSpPr>
        <p:spPr>
          <a:xfrm>
            <a:off x="1280160" y="1234440"/>
            <a:ext cx="4572000" cy="274320"/>
          </a:xfrm>
          <a:prstGeom prst="rect">
            <a:avLst/>
          </a:prstGeom>
          <a:noFill/>
          <a:ln/>
        </p:spPr>
        <p:txBody>
          <a:bodyPr wrap="square" lIns="0" tIns="0" rIns="0" bIns="0" rtlCol="0" anchor="ctr"/>
          <a:lstStyle/>
          <a:p>
            <a:pPr marL="0" indent="0">
              <a:buNone/>
            </a:pPr>
            <a:r>
              <a:rPr lang="en-US" sz="1100" b="1" kern="0" spc="100" dirty="0">
                <a:solidFill>
                  <a:schemeClr val="accent4"/>
                </a:solidFill>
                <a:latin typeface="Instrument Sans" pitchFamily="34" charset="0"/>
                <a:ea typeface="Instrument Sans" pitchFamily="34" charset="-122"/>
                <a:cs typeface="Instrument Sans" pitchFamily="34" charset="-120"/>
              </a:rPr>
              <a:t>CHALLENGE</a:t>
            </a:r>
            <a:endParaRPr lang="en-US" sz="1100" dirty="0"/>
          </a:p>
        </p:txBody>
      </p:sp>
      <p:sp>
        <p:nvSpPr>
          <p:cNvPr id="4" name="Text 2"/>
          <p:cNvSpPr txBox="1"/>
          <p:nvPr/>
        </p:nvSpPr>
        <p:spPr>
          <a:xfrm>
            <a:off x="6629400" y="1234440"/>
            <a:ext cx="4572000" cy="274320"/>
          </a:xfrm>
          <a:prstGeom prst="rect">
            <a:avLst/>
          </a:prstGeom>
          <a:noFill/>
          <a:ln/>
        </p:spPr>
        <p:txBody>
          <a:bodyPr wrap="square" lIns="0" tIns="0" rIns="0" bIns="0" rtlCol="0" anchor="ctr"/>
          <a:lstStyle/>
          <a:p>
            <a:pPr marL="0" indent="0">
              <a:buNone/>
            </a:pPr>
            <a:r>
              <a:rPr lang="en-US" sz="1100" b="1" kern="0" spc="100" dirty="0">
                <a:solidFill>
                  <a:schemeClr val="accent5"/>
                </a:solidFill>
                <a:latin typeface="Instrument Sans" pitchFamily="34" charset="0"/>
                <a:ea typeface="Instrument Sans" pitchFamily="34" charset="-122"/>
                <a:cs typeface="Instrument Sans" pitchFamily="34" charset="-120"/>
              </a:rPr>
              <a:t>WHAT WE DID</a:t>
            </a:r>
            <a:endParaRPr lang="en-US" sz="1100" dirty="0"/>
          </a:p>
        </p:txBody>
      </p:sp>
      <p:sp>
        <p:nvSpPr>
          <p:cNvPr id="5" name="challenge 0"/>
          <p:cNvSpPr/>
          <p:nvPr/>
        </p:nvSpPr>
        <p:spPr>
          <a:xfrm>
            <a:off x="548640" y="1600200"/>
            <a:ext cx="5349240" cy="804672"/>
          </a:xfrm>
          <a:prstGeom prst="roundRect">
            <a:avLst>
              <a:gd name="adj" fmla="val 1590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6" name="challenge 0 circle"/>
          <p:cNvSpPr/>
          <p:nvPr/>
        </p:nvSpPr>
        <p:spPr>
          <a:xfrm>
            <a:off x="685800" y="1755648"/>
            <a:ext cx="493776" cy="493776"/>
          </a:xfrm>
          <a:prstGeom prst="ellipse">
            <a:avLst/>
          </a:prstGeom>
          <a:solidFill>
            <a:srgbClr val="FBE6E1"/>
          </a:solidFill>
          <a:ln/>
        </p:spPr>
      </p:sp>
      <p:pic>
        <p:nvPicPr>
          <p:cNvPr id="7" name="challenge 0 icon" descr="preencoded.png"/>
          <p:cNvPicPr>
            <a:picLocks noChangeAspect="1"/>
          </p:cNvPicPr>
          <p:nvPr/>
        </p:nvPicPr>
        <p:blipFill>
          <a:blip r:embed="rId3"/>
          <a:stretch>
            <a:fillRect/>
          </a:stretch>
        </p:blipFill>
        <p:spPr>
          <a:xfrm>
            <a:off x="819120" y="1888968"/>
            <a:ext cx="227137" cy="227137"/>
          </a:xfrm>
          <a:prstGeom prst="rect">
            <a:avLst/>
          </a:prstGeom>
        </p:spPr>
      </p:pic>
      <p:sp>
        <p:nvSpPr>
          <p:cNvPr id="8" name="Text 5"/>
          <p:cNvSpPr txBox="1"/>
          <p:nvPr/>
        </p:nvSpPr>
        <p:spPr>
          <a:xfrm>
            <a:off x="1325880" y="1600200"/>
            <a:ext cx="4434840" cy="804672"/>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No free text to search</a:t>
            </a:r>
            <a:endParaRPr lang="en-US" sz="1500" dirty="0"/>
          </a:p>
        </p:txBody>
      </p:sp>
      <p:sp>
        <p:nvSpPr>
          <p:cNvPr id="9" name="challenge arrow 0"/>
          <p:cNvSpPr/>
          <p:nvPr/>
        </p:nvSpPr>
        <p:spPr>
          <a:xfrm>
            <a:off x="5989320" y="2002536"/>
            <a:ext cx="411480" cy="0"/>
          </a:xfrm>
          <a:prstGeom prst="line">
            <a:avLst/>
          </a:prstGeom>
          <a:noFill/>
          <a:ln w="22225">
            <a:solidFill>
              <a:srgbClr val="5C6E7C"/>
            </a:solidFill>
            <a:prstDash val="solid"/>
            <a:tailEnd type="triangle"/>
          </a:ln>
        </p:spPr>
      </p:sp>
      <p:sp>
        <p:nvSpPr>
          <p:cNvPr id="10" name="learning 0"/>
          <p:cNvSpPr/>
          <p:nvPr/>
        </p:nvSpPr>
        <p:spPr>
          <a:xfrm>
            <a:off x="6492240" y="1600200"/>
            <a:ext cx="5120640" cy="804672"/>
          </a:xfrm>
          <a:prstGeom prst="roundRect">
            <a:avLst>
              <a:gd name="adj" fmla="val 1590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1" name="learning 0 circle"/>
          <p:cNvSpPr/>
          <p:nvPr/>
        </p:nvSpPr>
        <p:spPr>
          <a:xfrm>
            <a:off x="6629400" y="1755648"/>
            <a:ext cx="493776" cy="493776"/>
          </a:xfrm>
          <a:prstGeom prst="ellipse">
            <a:avLst/>
          </a:prstGeom>
          <a:solidFill>
            <a:srgbClr val="DFF0E7"/>
          </a:solidFill>
          <a:ln/>
        </p:spPr>
      </p:sp>
      <p:pic>
        <p:nvPicPr>
          <p:cNvPr id="12" name="learning 0 icon" descr="preencoded.png"/>
          <p:cNvPicPr>
            <a:picLocks noChangeAspect="1"/>
          </p:cNvPicPr>
          <p:nvPr/>
        </p:nvPicPr>
        <p:blipFill>
          <a:blip r:embed="rId4"/>
          <a:stretch>
            <a:fillRect/>
          </a:stretch>
        </p:blipFill>
        <p:spPr>
          <a:xfrm>
            <a:off x="6762720" y="1888968"/>
            <a:ext cx="227137" cy="227137"/>
          </a:xfrm>
          <a:prstGeom prst="rect">
            <a:avLst/>
          </a:prstGeom>
        </p:spPr>
      </p:pic>
      <p:sp>
        <p:nvSpPr>
          <p:cNvPr id="13" name="Text 9"/>
          <p:cNvSpPr txBox="1"/>
          <p:nvPr/>
        </p:nvSpPr>
        <p:spPr>
          <a:xfrm>
            <a:off x="7269480" y="1600200"/>
            <a:ext cx="4206240" cy="804672"/>
          </a:xfrm>
          <a:prstGeom prst="rect">
            <a:avLst/>
          </a:prstGeom>
          <a:noFill/>
          <a:ln/>
        </p:spPr>
        <p:txBody>
          <a:bodyPr wrap="square" lIns="0" tIns="0" rIns="0" bIns="0" rtlCol="0" anchor="ctr"/>
          <a:lstStyle/>
          <a:p>
            <a:pPr marL="0" indent="0">
              <a:buNone/>
            </a:pPr>
            <a:r>
              <a:rPr lang="en-US" sz="1200" dirty="0">
                <a:solidFill>
                  <a:schemeClr val="tx1"/>
                </a:solidFill>
                <a:latin typeface="Instrument Sans" pitchFamily="34" charset="0"/>
                <a:ea typeface="Instrument Sans" pitchFamily="34" charset="-122"/>
                <a:cs typeface="Instrument Sans" pitchFamily="34" charset="-120"/>
              </a:rPr>
              <a:t>One narrative per record with synonyms, plus metadata filters before ranking</a:t>
            </a:r>
            <a:endParaRPr lang="en-US" sz="1200" dirty="0"/>
          </a:p>
        </p:txBody>
      </p:sp>
      <p:sp>
        <p:nvSpPr>
          <p:cNvPr id="14" name="challenge 1"/>
          <p:cNvSpPr/>
          <p:nvPr/>
        </p:nvSpPr>
        <p:spPr>
          <a:xfrm>
            <a:off x="548640" y="2532888"/>
            <a:ext cx="5349240" cy="804672"/>
          </a:xfrm>
          <a:prstGeom prst="roundRect">
            <a:avLst>
              <a:gd name="adj" fmla="val 1590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15" name="challenge 1 circle"/>
          <p:cNvSpPr/>
          <p:nvPr/>
        </p:nvSpPr>
        <p:spPr>
          <a:xfrm>
            <a:off x="685800" y="2688336"/>
            <a:ext cx="493776" cy="493776"/>
          </a:xfrm>
          <a:prstGeom prst="ellipse">
            <a:avLst/>
          </a:prstGeom>
          <a:solidFill>
            <a:srgbClr val="FBE6E1"/>
          </a:solidFill>
          <a:ln/>
        </p:spPr>
      </p:sp>
      <p:pic>
        <p:nvPicPr>
          <p:cNvPr id="16" name="challenge 1 icon" descr="preencoded.png"/>
          <p:cNvPicPr>
            <a:picLocks noChangeAspect="1"/>
          </p:cNvPicPr>
          <p:nvPr/>
        </p:nvPicPr>
        <p:blipFill>
          <a:blip r:embed="rId3"/>
          <a:stretch>
            <a:fillRect/>
          </a:stretch>
        </p:blipFill>
        <p:spPr>
          <a:xfrm>
            <a:off x="819120" y="2821656"/>
            <a:ext cx="227137" cy="227137"/>
          </a:xfrm>
          <a:prstGeom prst="rect">
            <a:avLst/>
          </a:prstGeom>
        </p:spPr>
      </p:pic>
      <p:sp>
        <p:nvSpPr>
          <p:cNvPr id="17" name="Text 12"/>
          <p:cNvSpPr txBox="1"/>
          <p:nvPr/>
        </p:nvSpPr>
        <p:spPr>
          <a:xfrm>
            <a:off x="1325880" y="2532888"/>
            <a:ext cx="4434840" cy="804672"/>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LLMs can invent numbers</a:t>
            </a:r>
            <a:endParaRPr lang="en-US" sz="1500" dirty="0"/>
          </a:p>
        </p:txBody>
      </p:sp>
      <p:sp>
        <p:nvSpPr>
          <p:cNvPr id="18" name="challenge arrow 1"/>
          <p:cNvSpPr/>
          <p:nvPr/>
        </p:nvSpPr>
        <p:spPr>
          <a:xfrm>
            <a:off x="5989320" y="2935224"/>
            <a:ext cx="411480" cy="0"/>
          </a:xfrm>
          <a:prstGeom prst="line">
            <a:avLst/>
          </a:prstGeom>
          <a:noFill/>
          <a:ln w="22225">
            <a:solidFill>
              <a:srgbClr val="5C6E7C"/>
            </a:solidFill>
            <a:prstDash val="solid"/>
            <a:tailEnd type="triangle"/>
          </a:ln>
        </p:spPr>
      </p:sp>
      <p:sp>
        <p:nvSpPr>
          <p:cNvPr id="19" name="learning 1"/>
          <p:cNvSpPr/>
          <p:nvPr/>
        </p:nvSpPr>
        <p:spPr>
          <a:xfrm>
            <a:off x="6492240" y="2532888"/>
            <a:ext cx="5120640" cy="804672"/>
          </a:xfrm>
          <a:prstGeom prst="roundRect">
            <a:avLst>
              <a:gd name="adj" fmla="val 1590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0" name="learning 1 circle"/>
          <p:cNvSpPr/>
          <p:nvPr/>
        </p:nvSpPr>
        <p:spPr>
          <a:xfrm>
            <a:off x="6629400" y="2688336"/>
            <a:ext cx="493776" cy="493776"/>
          </a:xfrm>
          <a:prstGeom prst="ellipse">
            <a:avLst/>
          </a:prstGeom>
          <a:solidFill>
            <a:srgbClr val="DFF0E7"/>
          </a:solidFill>
          <a:ln/>
        </p:spPr>
      </p:sp>
      <p:pic>
        <p:nvPicPr>
          <p:cNvPr id="21" name="learning 1 icon" descr="preencoded.png"/>
          <p:cNvPicPr>
            <a:picLocks noChangeAspect="1"/>
          </p:cNvPicPr>
          <p:nvPr/>
        </p:nvPicPr>
        <p:blipFill>
          <a:blip r:embed="rId4"/>
          <a:stretch>
            <a:fillRect/>
          </a:stretch>
        </p:blipFill>
        <p:spPr>
          <a:xfrm>
            <a:off x="6762720" y="2821656"/>
            <a:ext cx="227137" cy="227137"/>
          </a:xfrm>
          <a:prstGeom prst="rect">
            <a:avLst/>
          </a:prstGeom>
        </p:spPr>
      </p:pic>
      <p:sp>
        <p:nvSpPr>
          <p:cNvPr id="22" name="Text 16"/>
          <p:cNvSpPr txBox="1"/>
          <p:nvPr/>
        </p:nvSpPr>
        <p:spPr>
          <a:xfrm>
            <a:off x="7269480" y="2532888"/>
            <a:ext cx="4206240" cy="804672"/>
          </a:xfrm>
          <a:prstGeom prst="rect">
            <a:avLst/>
          </a:prstGeom>
          <a:noFill/>
          <a:ln/>
        </p:spPr>
        <p:txBody>
          <a:bodyPr wrap="square" lIns="0" tIns="0" rIns="0" bIns="0" rtlCol="0" anchor="ctr"/>
          <a:lstStyle/>
          <a:p>
            <a:pPr marL="0" indent="0">
              <a:buNone/>
            </a:pPr>
            <a:r>
              <a:rPr lang="en-US" sz="1200" dirty="0">
                <a:solidFill>
                  <a:schemeClr val="tx1"/>
                </a:solidFill>
                <a:latin typeface="Instrument Sans" pitchFamily="34" charset="0"/>
                <a:ea typeface="Instrument Sans" pitchFamily="34" charset="-122"/>
                <a:cs typeface="Instrument Sans" pitchFamily="34" charset="-120"/>
              </a:rPr>
              <a:t>Scoring picks the strategy; the LLM writes from a fact sheet and guardrails remove unsupported numbers and IDs</a:t>
            </a:r>
            <a:endParaRPr lang="en-US" sz="1200" dirty="0"/>
          </a:p>
        </p:txBody>
      </p:sp>
      <p:sp>
        <p:nvSpPr>
          <p:cNvPr id="23" name="challenge 2"/>
          <p:cNvSpPr/>
          <p:nvPr/>
        </p:nvSpPr>
        <p:spPr>
          <a:xfrm>
            <a:off x="548640" y="3465576"/>
            <a:ext cx="5349240" cy="804672"/>
          </a:xfrm>
          <a:prstGeom prst="roundRect">
            <a:avLst>
              <a:gd name="adj" fmla="val 1590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4" name="challenge 2 circle"/>
          <p:cNvSpPr/>
          <p:nvPr/>
        </p:nvSpPr>
        <p:spPr>
          <a:xfrm>
            <a:off x="685800" y="3621024"/>
            <a:ext cx="493776" cy="493776"/>
          </a:xfrm>
          <a:prstGeom prst="ellipse">
            <a:avLst/>
          </a:prstGeom>
          <a:solidFill>
            <a:srgbClr val="FBE6E1"/>
          </a:solidFill>
          <a:ln/>
        </p:spPr>
      </p:sp>
      <p:pic>
        <p:nvPicPr>
          <p:cNvPr id="25" name="challenge 2 icon" descr="preencoded.png"/>
          <p:cNvPicPr>
            <a:picLocks noChangeAspect="1"/>
          </p:cNvPicPr>
          <p:nvPr/>
        </p:nvPicPr>
        <p:blipFill>
          <a:blip r:embed="rId3"/>
          <a:stretch>
            <a:fillRect/>
          </a:stretch>
        </p:blipFill>
        <p:spPr>
          <a:xfrm>
            <a:off x="819120" y="3754344"/>
            <a:ext cx="227137" cy="227137"/>
          </a:xfrm>
          <a:prstGeom prst="rect">
            <a:avLst/>
          </a:prstGeom>
        </p:spPr>
      </p:pic>
      <p:sp>
        <p:nvSpPr>
          <p:cNvPr id="26" name="Text 19"/>
          <p:cNvSpPr txBox="1"/>
          <p:nvPr/>
        </p:nvSpPr>
        <p:spPr>
          <a:xfrm>
            <a:off x="1325880" y="3465576"/>
            <a:ext cx="4434840" cy="804672"/>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Past strategy choice is confounded</a:t>
            </a:r>
            <a:endParaRPr lang="en-US" sz="1500" dirty="0"/>
          </a:p>
        </p:txBody>
      </p:sp>
      <p:sp>
        <p:nvSpPr>
          <p:cNvPr id="27" name="challenge arrow 2"/>
          <p:cNvSpPr/>
          <p:nvPr/>
        </p:nvSpPr>
        <p:spPr>
          <a:xfrm>
            <a:off x="5989320" y="3867912"/>
            <a:ext cx="411480" cy="0"/>
          </a:xfrm>
          <a:prstGeom prst="line">
            <a:avLst/>
          </a:prstGeom>
          <a:noFill/>
          <a:ln w="22225">
            <a:solidFill>
              <a:srgbClr val="5C6E7C"/>
            </a:solidFill>
            <a:prstDash val="solid"/>
            <a:tailEnd type="triangle"/>
          </a:ln>
        </p:spPr>
      </p:sp>
      <p:sp>
        <p:nvSpPr>
          <p:cNvPr id="28" name="learning 2"/>
          <p:cNvSpPr/>
          <p:nvPr/>
        </p:nvSpPr>
        <p:spPr>
          <a:xfrm>
            <a:off x="6492240" y="3465576"/>
            <a:ext cx="5120640" cy="804672"/>
          </a:xfrm>
          <a:prstGeom prst="roundRect">
            <a:avLst>
              <a:gd name="adj" fmla="val 1590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29" name="learning 2 circle"/>
          <p:cNvSpPr/>
          <p:nvPr/>
        </p:nvSpPr>
        <p:spPr>
          <a:xfrm>
            <a:off x="6629400" y="3621024"/>
            <a:ext cx="493776" cy="493776"/>
          </a:xfrm>
          <a:prstGeom prst="ellipse">
            <a:avLst/>
          </a:prstGeom>
          <a:solidFill>
            <a:srgbClr val="DFF0E7"/>
          </a:solidFill>
          <a:ln/>
        </p:spPr>
      </p:sp>
      <p:pic>
        <p:nvPicPr>
          <p:cNvPr id="30" name="learning 2 icon" descr="preencoded.png"/>
          <p:cNvPicPr>
            <a:picLocks noChangeAspect="1"/>
          </p:cNvPicPr>
          <p:nvPr/>
        </p:nvPicPr>
        <p:blipFill>
          <a:blip r:embed="rId4"/>
          <a:stretch>
            <a:fillRect/>
          </a:stretch>
        </p:blipFill>
        <p:spPr>
          <a:xfrm>
            <a:off x="6762720" y="3754344"/>
            <a:ext cx="227137" cy="227137"/>
          </a:xfrm>
          <a:prstGeom prst="rect">
            <a:avLst/>
          </a:prstGeom>
        </p:spPr>
      </p:pic>
      <p:sp>
        <p:nvSpPr>
          <p:cNvPr id="31" name="Text 23"/>
          <p:cNvSpPr txBox="1"/>
          <p:nvPr/>
        </p:nvSpPr>
        <p:spPr>
          <a:xfrm>
            <a:off x="7269480" y="3465576"/>
            <a:ext cx="4206240" cy="804672"/>
          </a:xfrm>
          <a:prstGeom prst="rect">
            <a:avLst/>
          </a:prstGeom>
          <a:noFill/>
          <a:ln/>
        </p:spPr>
        <p:txBody>
          <a:bodyPr wrap="square" lIns="0" tIns="0" rIns="0" bIns="0" rtlCol="0" anchor="ctr"/>
          <a:lstStyle/>
          <a:p>
            <a:pPr marL="0" indent="0">
              <a:buNone/>
            </a:pPr>
            <a:r>
              <a:rPr lang="en-US" sz="1200" dirty="0">
                <a:solidFill>
                  <a:schemeClr val="tx1"/>
                </a:solidFill>
                <a:latin typeface="Instrument Sans" pitchFamily="34" charset="0"/>
                <a:ea typeface="Instrument Sans" pitchFamily="34" charset="-122"/>
                <a:cs typeface="Instrument Sans" pitchFamily="34" charset="-120"/>
              </a:rPr>
              <a:t>Compare strategies only on comparable cases with the same backup status</a:t>
            </a:r>
            <a:endParaRPr lang="en-US" sz="1200" dirty="0"/>
          </a:p>
        </p:txBody>
      </p:sp>
      <p:sp>
        <p:nvSpPr>
          <p:cNvPr id="32" name="challenge 3"/>
          <p:cNvSpPr/>
          <p:nvPr/>
        </p:nvSpPr>
        <p:spPr>
          <a:xfrm>
            <a:off x="548640" y="4398264"/>
            <a:ext cx="5349240" cy="804672"/>
          </a:xfrm>
          <a:prstGeom prst="roundRect">
            <a:avLst>
              <a:gd name="adj" fmla="val 1590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33" name="challenge 3 circle"/>
          <p:cNvSpPr/>
          <p:nvPr/>
        </p:nvSpPr>
        <p:spPr>
          <a:xfrm>
            <a:off x="685800" y="4553712"/>
            <a:ext cx="493776" cy="493776"/>
          </a:xfrm>
          <a:prstGeom prst="ellipse">
            <a:avLst/>
          </a:prstGeom>
          <a:solidFill>
            <a:srgbClr val="FBE6E1"/>
          </a:solidFill>
          <a:ln/>
        </p:spPr>
      </p:sp>
      <p:pic>
        <p:nvPicPr>
          <p:cNvPr id="34" name="challenge 3 icon" descr="preencoded.png"/>
          <p:cNvPicPr>
            <a:picLocks noChangeAspect="1"/>
          </p:cNvPicPr>
          <p:nvPr/>
        </p:nvPicPr>
        <p:blipFill>
          <a:blip r:embed="rId3"/>
          <a:stretch>
            <a:fillRect/>
          </a:stretch>
        </p:blipFill>
        <p:spPr>
          <a:xfrm>
            <a:off x="819120" y="4687032"/>
            <a:ext cx="227137" cy="227137"/>
          </a:xfrm>
          <a:prstGeom prst="rect">
            <a:avLst/>
          </a:prstGeom>
        </p:spPr>
      </p:pic>
      <p:sp>
        <p:nvSpPr>
          <p:cNvPr id="35" name="Text 26"/>
          <p:cNvSpPr txBox="1"/>
          <p:nvPr/>
        </p:nvSpPr>
        <p:spPr>
          <a:xfrm>
            <a:off x="1325880" y="4398264"/>
            <a:ext cx="4434840" cy="804672"/>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Some outcomes are hard to predict</a:t>
            </a:r>
            <a:endParaRPr lang="en-US" sz="1500" dirty="0"/>
          </a:p>
        </p:txBody>
      </p:sp>
      <p:sp>
        <p:nvSpPr>
          <p:cNvPr id="36" name="challenge arrow 3"/>
          <p:cNvSpPr/>
          <p:nvPr/>
        </p:nvSpPr>
        <p:spPr>
          <a:xfrm>
            <a:off x="5989320" y="4800600"/>
            <a:ext cx="411480" cy="0"/>
          </a:xfrm>
          <a:prstGeom prst="line">
            <a:avLst/>
          </a:prstGeom>
          <a:noFill/>
          <a:ln w="22225">
            <a:solidFill>
              <a:srgbClr val="5C6E7C"/>
            </a:solidFill>
            <a:prstDash val="solid"/>
            <a:tailEnd type="triangle"/>
          </a:ln>
        </p:spPr>
      </p:sp>
      <p:sp>
        <p:nvSpPr>
          <p:cNvPr id="37" name="learning 3"/>
          <p:cNvSpPr/>
          <p:nvPr/>
        </p:nvSpPr>
        <p:spPr>
          <a:xfrm>
            <a:off x="6492240" y="4398264"/>
            <a:ext cx="5120640" cy="804672"/>
          </a:xfrm>
          <a:prstGeom prst="roundRect">
            <a:avLst>
              <a:gd name="adj" fmla="val 1590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38" name="learning 3 circle"/>
          <p:cNvSpPr/>
          <p:nvPr/>
        </p:nvSpPr>
        <p:spPr>
          <a:xfrm>
            <a:off x="6629400" y="4553712"/>
            <a:ext cx="493776" cy="493776"/>
          </a:xfrm>
          <a:prstGeom prst="ellipse">
            <a:avLst/>
          </a:prstGeom>
          <a:solidFill>
            <a:srgbClr val="DFF0E7"/>
          </a:solidFill>
          <a:ln/>
        </p:spPr>
      </p:sp>
      <p:pic>
        <p:nvPicPr>
          <p:cNvPr id="39" name="learning 3 icon" descr="preencoded.png"/>
          <p:cNvPicPr>
            <a:picLocks noChangeAspect="1"/>
          </p:cNvPicPr>
          <p:nvPr/>
        </p:nvPicPr>
        <p:blipFill>
          <a:blip r:embed="rId4"/>
          <a:stretch>
            <a:fillRect/>
          </a:stretch>
        </p:blipFill>
        <p:spPr>
          <a:xfrm>
            <a:off x="6762720" y="4687032"/>
            <a:ext cx="227137" cy="227137"/>
          </a:xfrm>
          <a:prstGeom prst="rect">
            <a:avLst/>
          </a:prstGeom>
        </p:spPr>
      </p:pic>
      <p:sp>
        <p:nvSpPr>
          <p:cNvPr id="40" name="Text 30"/>
          <p:cNvSpPr txBox="1"/>
          <p:nvPr/>
        </p:nvSpPr>
        <p:spPr>
          <a:xfrm>
            <a:off x="7269480" y="4398264"/>
            <a:ext cx="4206240" cy="804672"/>
          </a:xfrm>
          <a:prstGeom prst="rect">
            <a:avLst/>
          </a:prstGeom>
          <a:noFill/>
          <a:ln/>
        </p:spPr>
        <p:txBody>
          <a:bodyPr wrap="square" lIns="0" tIns="0" rIns="0" bIns="0" rtlCol="0" anchor="ctr"/>
          <a:lstStyle/>
          <a:p>
            <a:pPr marL="0" indent="0">
              <a:buNone/>
            </a:pPr>
            <a:r>
              <a:rPr lang="en-US" sz="1200" dirty="0">
                <a:solidFill>
                  <a:schemeClr val="tx1"/>
                </a:solidFill>
                <a:latin typeface="Instrument Sans" pitchFamily="34" charset="0"/>
                <a:ea typeface="Instrument Sans" pitchFamily="34" charset="-122"/>
                <a:cs typeface="Instrument Sans" pitchFamily="34" charset="-120"/>
              </a:rPr>
              <a:t>Three model families tie, so the data is the limit: show ranges, not single numbers</a:t>
            </a:r>
            <a:endParaRPr lang="en-US" sz="1200" dirty="0"/>
          </a:p>
        </p:txBody>
      </p:sp>
      <p:sp>
        <p:nvSpPr>
          <p:cNvPr id="41" name="challenge 4"/>
          <p:cNvSpPr/>
          <p:nvPr/>
        </p:nvSpPr>
        <p:spPr>
          <a:xfrm>
            <a:off x="548640" y="5330952"/>
            <a:ext cx="5349240" cy="804672"/>
          </a:xfrm>
          <a:prstGeom prst="roundRect">
            <a:avLst>
              <a:gd name="adj" fmla="val 1590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2" name="challenge 4 circle"/>
          <p:cNvSpPr/>
          <p:nvPr/>
        </p:nvSpPr>
        <p:spPr>
          <a:xfrm>
            <a:off x="685800" y="5486400"/>
            <a:ext cx="493776" cy="493776"/>
          </a:xfrm>
          <a:prstGeom prst="ellipse">
            <a:avLst/>
          </a:prstGeom>
          <a:solidFill>
            <a:srgbClr val="FBE6E1"/>
          </a:solidFill>
          <a:ln/>
        </p:spPr>
      </p:sp>
      <p:pic>
        <p:nvPicPr>
          <p:cNvPr id="43" name="challenge 4 icon" descr="preencoded.png"/>
          <p:cNvPicPr>
            <a:picLocks noChangeAspect="1"/>
          </p:cNvPicPr>
          <p:nvPr/>
        </p:nvPicPr>
        <p:blipFill>
          <a:blip r:embed="rId3"/>
          <a:stretch>
            <a:fillRect/>
          </a:stretch>
        </p:blipFill>
        <p:spPr>
          <a:xfrm>
            <a:off x="819120" y="5619720"/>
            <a:ext cx="227137" cy="227137"/>
          </a:xfrm>
          <a:prstGeom prst="rect">
            <a:avLst/>
          </a:prstGeom>
        </p:spPr>
      </p:pic>
      <p:sp>
        <p:nvSpPr>
          <p:cNvPr id="44" name="Text 33"/>
          <p:cNvSpPr txBox="1"/>
          <p:nvPr/>
        </p:nvSpPr>
        <p:spPr>
          <a:xfrm>
            <a:off x="1325880" y="5330952"/>
            <a:ext cx="4434840" cy="804672"/>
          </a:xfrm>
          <a:prstGeom prst="rect">
            <a:avLst/>
          </a:prstGeom>
          <a:noFill/>
          <a:ln/>
        </p:spPr>
        <p:txBody>
          <a:bodyPr wrap="square" lIns="0" tIns="0" rIns="0" bIns="0" rtlCol="0" anchor="ctr"/>
          <a:lstStyle/>
          <a:p>
            <a:pPr marL="0" indent="0">
              <a:buNone/>
            </a:pPr>
            <a:r>
              <a:rPr lang="en-US" sz="1500" b="1" dirty="0">
                <a:solidFill>
                  <a:schemeClr val="tx1"/>
                </a:solidFill>
                <a:latin typeface="Instrument Sans" pitchFamily="34" charset="0"/>
                <a:ea typeface="Instrument Sans" pitchFamily="34" charset="-122"/>
                <a:cs typeface="Instrument Sans" pitchFamily="34" charset="-120"/>
              </a:rPr>
              <a:t>Grading answers with an LLM</a:t>
            </a:r>
            <a:endParaRPr lang="en-US" sz="1500" dirty="0"/>
          </a:p>
        </p:txBody>
      </p:sp>
      <p:sp>
        <p:nvSpPr>
          <p:cNvPr id="45" name="challenge arrow 4"/>
          <p:cNvSpPr/>
          <p:nvPr/>
        </p:nvSpPr>
        <p:spPr>
          <a:xfrm>
            <a:off x="5989320" y="5733288"/>
            <a:ext cx="411480" cy="0"/>
          </a:xfrm>
          <a:prstGeom prst="line">
            <a:avLst/>
          </a:prstGeom>
          <a:noFill/>
          <a:ln w="22225">
            <a:solidFill>
              <a:srgbClr val="5C6E7C"/>
            </a:solidFill>
            <a:prstDash val="solid"/>
            <a:tailEnd type="triangle"/>
          </a:ln>
        </p:spPr>
      </p:sp>
      <p:sp>
        <p:nvSpPr>
          <p:cNvPr id="46" name="learning 4"/>
          <p:cNvSpPr/>
          <p:nvPr/>
        </p:nvSpPr>
        <p:spPr>
          <a:xfrm>
            <a:off x="6492240" y="5330952"/>
            <a:ext cx="5120640" cy="804672"/>
          </a:xfrm>
          <a:prstGeom prst="roundRect">
            <a:avLst>
              <a:gd name="adj" fmla="val 15909"/>
            </a:avLst>
          </a:prstGeom>
          <a:solidFill>
            <a:schemeClr val="bg1"/>
          </a:solidFill>
          <a:ln w="9525">
            <a:solidFill>
              <a:srgbClr val="DCE3E8"/>
            </a:solidFill>
            <a:prstDash val="solid"/>
          </a:ln>
          <a:effectLst>
            <a:outerShdw blurRad="127000" dist="25400" dir="5400000" algn="bl" rotWithShape="0">
              <a:srgbClr val="0F1F2E">
                <a:alpha val="10000"/>
              </a:srgbClr>
            </a:outerShdw>
          </a:effectLst>
        </p:spPr>
      </p:sp>
      <p:sp>
        <p:nvSpPr>
          <p:cNvPr id="47" name="learning 4 circle"/>
          <p:cNvSpPr/>
          <p:nvPr/>
        </p:nvSpPr>
        <p:spPr>
          <a:xfrm>
            <a:off x="6629400" y="5486400"/>
            <a:ext cx="493776" cy="493776"/>
          </a:xfrm>
          <a:prstGeom prst="ellipse">
            <a:avLst/>
          </a:prstGeom>
          <a:solidFill>
            <a:srgbClr val="DFF0E7"/>
          </a:solidFill>
          <a:ln/>
        </p:spPr>
      </p:sp>
      <p:pic>
        <p:nvPicPr>
          <p:cNvPr id="48" name="learning 4 icon" descr="preencoded.png"/>
          <p:cNvPicPr>
            <a:picLocks noChangeAspect="1"/>
          </p:cNvPicPr>
          <p:nvPr/>
        </p:nvPicPr>
        <p:blipFill>
          <a:blip r:embed="rId4"/>
          <a:stretch>
            <a:fillRect/>
          </a:stretch>
        </p:blipFill>
        <p:spPr>
          <a:xfrm>
            <a:off x="6762720" y="5619720"/>
            <a:ext cx="227137" cy="227137"/>
          </a:xfrm>
          <a:prstGeom prst="rect">
            <a:avLst/>
          </a:prstGeom>
        </p:spPr>
      </p:pic>
      <p:sp>
        <p:nvSpPr>
          <p:cNvPr id="49" name="Text 37"/>
          <p:cNvSpPr txBox="1"/>
          <p:nvPr/>
        </p:nvSpPr>
        <p:spPr>
          <a:xfrm>
            <a:off x="7269480" y="5330952"/>
            <a:ext cx="4206240" cy="804672"/>
          </a:xfrm>
          <a:prstGeom prst="rect">
            <a:avLst/>
          </a:prstGeom>
          <a:noFill/>
          <a:ln/>
        </p:spPr>
        <p:txBody>
          <a:bodyPr wrap="square" lIns="0" tIns="0" rIns="0" bIns="0" rtlCol="0" anchor="ctr"/>
          <a:lstStyle/>
          <a:p>
            <a:pPr marL="0" indent="0">
              <a:buNone/>
            </a:pPr>
            <a:r>
              <a:rPr lang="en-US" sz="1200" dirty="0">
                <a:solidFill>
                  <a:schemeClr val="tx1"/>
                </a:solidFill>
                <a:latin typeface="Instrument Sans" pitchFamily="34" charset="0"/>
                <a:ea typeface="Instrument Sans" pitchFamily="34" charset="-122"/>
                <a:cs typeface="Instrument Sans" pitchFamily="34" charset="-120"/>
              </a:rPr>
              <a:t>Cross-check with label-based metrics and 74 offline tests</a:t>
            </a:r>
            <a:endParaRPr lang="en-US" sz="1200" dirty="0"/>
          </a:p>
        </p:txBody>
      </p:sp>
      <p:sp>
        <p:nvSpPr>
          <p:cNvPr id="50"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E7C"/>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1325880"/>
            <a:ext cx="7315200" cy="365760"/>
          </a:xfrm>
          <a:prstGeom prst="rect">
            <a:avLst/>
          </a:prstGeom>
          <a:noFill/>
          <a:ln/>
        </p:spPr>
        <p:txBody>
          <a:bodyPr wrap="square" lIns="0" tIns="0" rIns="0" bIns="0" rtlCol="0" anchor="ctr"/>
          <a:lstStyle/>
          <a:p>
            <a:pPr marL="0" indent="0">
              <a:buNone/>
            </a:pPr>
            <a:r>
              <a:rPr lang="en-US" sz="1300" b="1" kern="0" spc="200" dirty="0">
                <a:solidFill>
                  <a:srgbClr val="F2A900"/>
                </a:solidFill>
                <a:latin typeface="Instrument Sans" pitchFamily="34" charset="0"/>
                <a:ea typeface="Instrument Sans" pitchFamily="34" charset="-122"/>
                <a:cs typeface="Instrument Sans" pitchFamily="34" charset="-120"/>
              </a:rPr>
              <a:t>THANK YOU</a:t>
            </a:r>
            <a:endParaRPr lang="en-US" sz="1300" dirty="0"/>
          </a:p>
        </p:txBody>
      </p:sp>
      <p:sp>
        <p:nvSpPr>
          <p:cNvPr id="3" name="Text 0"/>
          <p:cNvSpPr>
            <a:spLocks noGrp="1"/>
          </p:cNvSpPr>
          <p:nvPr>
            <p:ph type="title" idx="100" hasCustomPrompt="1"/>
          </p:nvPr>
        </p:nvSpPr>
        <p:spPr>
          <a:xfrm>
            <a:off x="731520" y="1828800"/>
            <a:ext cx="10698480" cy="1737360"/>
          </a:xfrm>
          <a:prstGeom prst="rect">
            <a:avLst/>
          </a:prstGeom>
          <a:noFill/>
          <a:ln/>
        </p:spPr>
        <p:txBody>
          <a:bodyPr wrap="square" lIns="0" tIns="0" rIns="0" bIns="0" rtlCol="0" anchor="b"/>
          <a:lstStyle/>
          <a:p>
            <a:pPr marL="0" indent="0" algn="l">
              <a:buNone/>
            </a:pPr>
            <a:r>
              <a:rPr lang="en-US" sz="4400" b="1" dirty="0">
                <a:solidFill>
                  <a:schemeClr val="bg1"/>
                </a:solidFill>
                <a:latin typeface="Bricolage Grotesque" pitchFamily="34" charset="0"/>
                <a:ea typeface="Bricolage Grotesque" pitchFamily="34" charset="-122"/>
                <a:cs typeface="Bricolage Grotesque" pitchFamily="34" charset="-120"/>
              </a:rPr>
              <a:t>Questions?</a:t>
            </a:r>
            <a:endParaRPr lang="en-US" sz="4400" dirty="0"/>
          </a:p>
        </p:txBody>
      </p:sp>
      <p:sp>
        <p:nvSpPr>
          <p:cNvPr id="5" name="Text 0"/>
          <p:cNvSpPr>
            <a:spLocks noGrp="1"/>
          </p:cNvSpPr>
          <p:nvPr>
            <p:ph type="body" idx="101" hasCustomPrompt="1"/>
          </p:nvPr>
        </p:nvSpPr>
        <p:spPr>
          <a:xfrm>
            <a:off x="731520" y="3703320"/>
            <a:ext cx="9326880" cy="1005840"/>
          </a:xfrm>
          <a:prstGeom prst="rect">
            <a:avLst/>
          </a:prstGeom>
          <a:noFill/>
          <a:ln/>
        </p:spPr>
        <p:txBody>
          <a:bodyPr wrap="square" lIns="0" tIns="0" rIns="0" bIns="0" rtlCol="0" anchor="t"/>
          <a:lstStyle/>
          <a:p>
            <a:pPr marL="0" indent="0">
              <a:buNone/>
            </a:pPr>
            <a:endParaRPr lang="en-US" sz="1800" dirty="0"/>
          </a:p>
        </p:txBody>
      </p:sp>
    </p:spTree>
  </p:cSld>
  <p:clrMapOvr>
    <a:masterClrMapping/>
  </p:clrMapOvr>
</p:sld>
</file>

<file path=ppt/theme/theme1.xml><?xml version="1.0" encoding="utf-8"?>
<a:theme xmlns:a="http://schemas.openxmlformats.org/drawingml/2006/main" name="Harbor">
  <a:themeElements>
    <a:clrScheme name="Harbor">
      <a:dk1>
        <a:srgbClr val="0F1F2E"/>
      </a:dk1>
      <a:lt1>
        <a:srgbClr val="FFFFFF"/>
      </a:lt1>
      <a:dk2>
        <a:srgbClr val="14506B"/>
      </a:dk2>
      <a:lt2>
        <a:srgbClr val="F2F5F7"/>
      </a:lt2>
      <a:accent1>
        <a:srgbClr val="14506B"/>
      </a:accent1>
      <a:accent2>
        <a:srgbClr val="1D7A9E"/>
      </a:accent2>
      <a:accent3>
        <a:srgbClr val="F2A900"/>
      </a:accent3>
      <a:accent4>
        <a:srgbClr val="C2452D"/>
      </a:accent4>
      <a:accent5>
        <a:srgbClr val="2E7D5B"/>
      </a:accent5>
      <a:accent6>
        <a:srgbClr val="5C6E7C"/>
      </a:accent6>
      <a:hlink>
        <a:srgbClr val="1D7A9E"/>
      </a:hlink>
      <a:folHlink>
        <a:srgbClr val="14506B"/>
      </a:folHlink>
    </a:clrScheme>
    <a:fontScheme name="Harbor">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strumen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1681</Words>
  <Application>Microsoft Office PowerPoint</Application>
  <PresentationFormat>Widescreen</PresentationFormat>
  <Paragraphs>238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Instrument Sans</vt:lpstr>
      <vt:lpstr>Bricolage Grotesque</vt:lpstr>
      <vt:lpstr>Arial</vt:lpstr>
      <vt:lpstr>Harbor</vt:lpstr>
      <vt:lpstr>AI-Powered Supply Chain Disruption Assistant</vt:lpstr>
      <vt:lpstr>The problem and why it matters</vt:lpstr>
      <vt:lpstr>What the assistant does</vt:lpstr>
      <vt:lpstr>The data: 100,000 past disruptions</vt:lpstr>
      <vt:lpstr>Architecture</vt:lpstr>
      <vt:lpstr>Data flow: from CSV to answer</vt:lpstr>
      <vt:lpstr>Agent workflow (LangGraph)</vt:lpstr>
      <vt:lpstr>Prediction models: LightGBM</vt:lpstr>
      <vt:lpstr>Technology stack</vt:lpstr>
      <vt:lpstr>Evaluation results</vt:lpstr>
      <vt:lpstr>Challenges and learnings</vt:lpstr>
      <vt:lpstr>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Supply Chain Disruption Assistant</dc:title>
  <dc:subject>PptxGenJS Presentation</dc:subject>
  <dc:creator>Capstone project</dc:creator>
  <cp:lastModifiedBy>Mohamed Shafeeq</cp:lastModifiedBy>
  <cp:revision>2</cp:revision>
  <dcterms:created xsi:type="dcterms:W3CDTF">2026-10-11T12:44:43Z</dcterms:created>
  <dcterms:modified xsi:type="dcterms:W3CDTF">2026-10-11T12:45:07Z</dcterms:modified>
</cp:coreProperties>
</file>